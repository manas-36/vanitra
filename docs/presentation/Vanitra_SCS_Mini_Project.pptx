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4" r:id="rId7"/>
    <p:sldId id="261" r:id="rId8"/>
    <p:sldId id="262" r:id="rId9"/>
    <p:sldId id="263" r:id="rId10"/>
    <p:sldId id="265" r:id="rId11"/>
    <p:sldId id="266" r:id="rId12"/>
    <p:sldId id="267" r:id="rId13"/>
    <p:sldId id="268" r:id="rId14"/>
  </p:sldIdLst>
  <p:sldSz cx="18288000" cy="10287000"/>
  <p:notesSz cx="6858000" cy="9144000"/>
  <p:embeddedFontLst>
    <p:embeddedFont>
      <p:font typeface="Archivo Black" panose="020B0604020202020204" charset="0"/>
      <p:regular r:id="rId15"/>
    </p:embeddedFont>
    <p:embeddedFont>
      <p:font typeface="Canva Sans Bold" panose="020B0604020202020204" charset="0"/>
      <p:regular r:id="rId16"/>
    </p:embeddedFont>
    <p:embeddedFont>
      <p:font typeface="Inter" panose="020B0604020202020204" charset="0"/>
      <p:regular r:id="rId17"/>
    </p:embeddedFont>
    <p:embeddedFont>
      <p:font typeface="Inter Bold" panose="020B0604020202020204" charset="0"/>
      <p:regular r:id="rId18"/>
    </p:embeddedFont>
    <p:embeddedFont>
      <p:font typeface="Roboto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819" y="4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7FF"/>
        </a:solidFill>
        <a:effectLst/>
      </p:bgPr>
    </p:bg>
    <p:spTree>
      <p:nvGrpSpPr>
        <p:cNvPr id="1" name=""/>
        <p:cNvGrpSpPr/>
        <p:nvPr/>
      </p:nvGrpSpPr>
      <p:grpSpPr>
        <a:xfrm>
          <a:off x="0" y="0"/>
          <a:ext cx="0" cy="0"/>
          <a:chOff x="0" y="0"/>
          <a:chExt cx="0" cy="0"/>
        </a:xfrm>
      </p:grpSpPr>
      <p:sp>
        <p:nvSpPr>
          <p:cNvPr id="2" name="Freeform 2"/>
          <p:cNvSpPr/>
          <p:nvPr/>
        </p:nvSpPr>
        <p:spPr>
          <a:xfrm>
            <a:off x="0" y="5143500"/>
            <a:ext cx="18288000" cy="8839200"/>
          </a:xfrm>
          <a:custGeom>
            <a:avLst/>
            <a:gdLst/>
            <a:ahLst/>
            <a:cxnLst/>
            <a:rect l="l" t="t" r="r" b="b"/>
            <a:pathLst>
              <a:path w="18288000" h="8839200">
                <a:moveTo>
                  <a:pt x="0" y="0"/>
                </a:moveTo>
                <a:lnTo>
                  <a:pt x="18288000" y="0"/>
                </a:lnTo>
                <a:lnTo>
                  <a:pt x="18288000" y="8839200"/>
                </a:lnTo>
                <a:lnTo>
                  <a:pt x="0" y="88392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218665">
            <a:off x="10138270" y="-3276751"/>
            <a:ext cx="10274599" cy="4966056"/>
          </a:xfrm>
          <a:custGeom>
            <a:avLst/>
            <a:gdLst/>
            <a:ahLst/>
            <a:cxnLst/>
            <a:rect l="l" t="t" r="r" b="b"/>
            <a:pathLst>
              <a:path w="10274599" h="4966056">
                <a:moveTo>
                  <a:pt x="0" y="0"/>
                </a:moveTo>
                <a:lnTo>
                  <a:pt x="10274599" y="0"/>
                </a:lnTo>
                <a:lnTo>
                  <a:pt x="10274599" y="4966056"/>
                </a:lnTo>
                <a:lnTo>
                  <a:pt x="0" y="49660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286689" y="1436077"/>
            <a:ext cx="2310176" cy="8850923"/>
            <a:chOff x="0" y="0"/>
            <a:chExt cx="660400" cy="2530175"/>
          </a:xfrm>
        </p:grpSpPr>
        <p:sp>
          <p:nvSpPr>
            <p:cNvPr id="5" name="Freeform 5"/>
            <p:cNvSpPr/>
            <p:nvPr/>
          </p:nvSpPr>
          <p:spPr>
            <a:xfrm>
              <a:off x="0" y="0"/>
              <a:ext cx="660400" cy="2530175"/>
            </a:xfrm>
            <a:custGeom>
              <a:avLst/>
              <a:gdLst/>
              <a:ahLst/>
              <a:cxnLst/>
              <a:rect l="l" t="t" r="r" b="b"/>
              <a:pathLst>
                <a:path w="660400" h="253017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66650"/>
                  </a:cubicBezTo>
                  <a:lnTo>
                    <a:pt x="660400" y="2530175"/>
                  </a:lnTo>
                  <a:lnTo>
                    <a:pt x="0" y="2530175"/>
                  </a:lnTo>
                  <a:lnTo>
                    <a:pt x="0" y="368255"/>
                  </a:lnTo>
                  <a:cubicBezTo>
                    <a:pt x="1782" y="185660"/>
                    <a:pt x="93019" y="64045"/>
                    <a:pt x="220252" y="19070"/>
                  </a:cubicBezTo>
                  <a:close/>
                </a:path>
              </a:pathLst>
            </a:custGeom>
            <a:blipFill>
              <a:blip r:embed="rId4"/>
              <a:stretch>
                <a:fillRect l="-200873" t="-17324" r="-559417"/>
              </a:stretch>
            </a:blipFill>
          </p:spPr>
        </p:sp>
      </p:grpSp>
      <p:grpSp>
        <p:nvGrpSpPr>
          <p:cNvPr id="6" name="Group 6"/>
          <p:cNvGrpSpPr/>
          <p:nvPr/>
        </p:nvGrpSpPr>
        <p:grpSpPr>
          <a:xfrm>
            <a:off x="5184861" y="1436077"/>
            <a:ext cx="2310176" cy="8850923"/>
            <a:chOff x="0" y="0"/>
            <a:chExt cx="660400" cy="2530175"/>
          </a:xfrm>
        </p:grpSpPr>
        <p:sp>
          <p:nvSpPr>
            <p:cNvPr id="7" name="Freeform 7"/>
            <p:cNvSpPr/>
            <p:nvPr/>
          </p:nvSpPr>
          <p:spPr>
            <a:xfrm>
              <a:off x="0" y="0"/>
              <a:ext cx="660400" cy="2530175"/>
            </a:xfrm>
            <a:custGeom>
              <a:avLst/>
              <a:gdLst/>
              <a:ahLst/>
              <a:cxnLst/>
              <a:rect l="l" t="t" r="r" b="b"/>
              <a:pathLst>
                <a:path w="660400" h="2530175">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66650"/>
                  </a:cubicBezTo>
                  <a:lnTo>
                    <a:pt x="660400" y="2530175"/>
                  </a:lnTo>
                  <a:lnTo>
                    <a:pt x="0" y="2530175"/>
                  </a:lnTo>
                  <a:lnTo>
                    <a:pt x="0" y="368255"/>
                  </a:lnTo>
                  <a:cubicBezTo>
                    <a:pt x="1782" y="185660"/>
                    <a:pt x="93019" y="64045"/>
                    <a:pt x="220252" y="19070"/>
                  </a:cubicBezTo>
                  <a:close/>
                </a:path>
              </a:pathLst>
            </a:custGeom>
            <a:blipFill>
              <a:blip r:embed="rId4"/>
              <a:stretch>
                <a:fillRect l="-411964" t="-16428" r="-341759"/>
              </a:stretch>
            </a:blipFill>
          </p:spPr>
        </p:sp>
      </p:grpSp>
      <p:grpSp>
        <p:nvGrpSpPr>
          <p:cNvPr id="8" name="Group 8"/>
          <p:cNvGrpSpPr/>
          <p:nvPr/>
        </p:nvGrpSpPr>
        <p:grpSpPr>
          <a:xfrm>
            <a:off x="2735775" y="0"/>
            <a:ext cx="2310176" cy="8850923"/>
            <a:chOff x="0" y="0"/>
            <a:chExt cx="660400" cy="2530175"/>
          </a:xfrm>
        </p:grpSpPr>
        <p:sp>
          <p:nvSpPr>
            <p:cNvPr id="9" name="Freeform 9"/>
            <p:cNvSpPr/>
            <p:nvPr/>
          </p:nvSpPr>
          <p:spPr>
            <a:xfrm>
              <a:off x="0" y="0"/>
              <a:ext cx="660400" cy="2530175"/>
            </a:xfrm>
            <a:custGeom>
              <a:avLst/>
              <a:gdLst/>
              <a:ahLst/>
              <a:cxnLst/>
              <a:rect l="l" t="t" r="r" b="b"/>
              <a:pathLst>
                <a:path w="660400" h="2530175">
                  <a:moveTo>
                    <a:pt x="220252" y="2511106"/>
                  </a:moveTo>
                  <a:cubicBezTo>
                    <a:pt x="254109" y="2522619"/>
                    <a:pt x="292600" y="2530175"/>
                    <a:pt x="330378" y="2530175"/>
                  </a:cubicBezTo>
                  <a:cubicBezTo>
                    <a:pt x="368157" y="2530175"/>
                    <a:pt x="404509" y="2523698"/>
                    <a:pt x="438009" y="2512184"/>
                  </a:cubicBezTo>
                  <a:cubicBezTo>
                    <a:pt x="438723" y="2511824"/>
                    <a:pt x="439435" y="2511824"/>
                    <a:pt x="440148" y="2511465"/>
                  </a:cubicBezTo>
                  <a:cubicBezTo>
                    <a:pt x="565955" y="2465410"/>
                    <a:pt x="658618" y="2343796"/>
                    <a:pt x="660400" y="2163525"/>
                  </a:cubicBezTo>
                  <a:lnTo>
                    <a:pt x="660400" y="0"/>
                  </a:lnTo>
                  <a:lnTo>
                    <a:pt x="0" y="0"/>
                  </a:lnTo>
                  <a:lnTo>
                    <a:pt x="0" y="2161919"/>
                  </a:lnTo>
                  <a:cubicBezTo>
                    <a:pt x="1782" y="2344515"/>
                    <a:pt x="93019" y="2466130"/>
                    <a:pt x="220252" y="2511106"/>
                  </a:cubicBezTo>
                  <a:close/>
                </a:path>
              </a:pathLst>
            </a:custGeom>
            <a:blipFill>
              <a:blip r:embed="rId4"/>
              <a:stretch>
                <a:fillRect l="-306200" t="-272" r="-440282" b="-15169"/>
              </a:stretch>
            </a:blipFill>
          </p:spPr>
        </p:sp>
      </p:grpSp>
      <p:sp>
        <p:nvSpPr>
          <p:cNvPr id="10" name="TextBox 10"/>
          <p:cNvSpPr txBox="1"/>
          <p:nvPr/>
        </p:nvSpPr>
        <p:spPr>
          <a:xfrm>
            <a:off x="7839727" y="3976991"/>
            <a:ext cx="9419573" cy="1158875"/>
          </a:xfrm>
          <a:prstGeom prst="rect">
            <a:avLst/>
          </a:prstGeom>
        </p:spPr>
        <p:txBody>
          <a:bodyPr lIns="0" tIns="0" rIns="0" bIns="0" rtlCol="0" anchor="t">
            <a:spAutoFit/>
          </a:bodyPr>
          <a:lstStyle/>
          <a:p>
            <a:pPr marL="0" lvl="0" indent="0" algn="l">
              <a:lnSpc>
                <a:spcPts val="8800"/>
              </a:lnSpc>
            </a:pPr>
            <a:r>
              <a:rPr lang="en-US" sz="8000" spc="400">
                <a:solidFill>
                  <a:srgbClr val="000000"/>
                </a:solidFill>
                <a:latin typeface="Archivo Black"/>
                <a:ea typeface="Archivo Black"/>
                <a:cs typeface="Archivo Black"/>
                <a:sym typeface="Archivo Black"/>
              </a:rPr>
              <a:t>VANITRA</a:t>
            </a:r>
          </a:p>
        </p:txBody>
      </p:sp>
      <p:sp>
        <p:nvSpPr>
          <p:cNvPr id="11" name="TextBox 11"/>
          <p:cNvSpPr txBox="1"/>
          <p:nvPr/>
        </p:nvSpPr>
        <p:spPr>
          <a:xfrm>
            <a:off x="7839727" y="3327685"/>
            <a:ext cx="5405826" cy="348615"/>
          </a:xfrm>
          <a:prstGeom prst="rect">
            <a:avLst/>
          </a:prstGeom>
        </p:spPr>
        <p:txBody>
          <a:bodyPr lIns="0" tIns="0" rIns="0" bIns="0" rtlCol="0" anchor="t">
            <a:spAutoFit/>
          </a:bodyPr>
          <a:lstStyle/>
          <a:p>
            <a:pPr algn="l">
              <a:lnSpc>
                <a:spcPts val="2760"/>
              </a:lnSpc>
              <a:spcBef>
                <a:spcPct val="0"/>
              </a:spcBef>
            </a:pPr>
            <a:r>
              <a:rPr lang="en-US" sz="2400" b="1" spc="480">
                <a:solidFill>
                  <a:srgbClr val="000000"/>
                </a:solidFill>
                <a:latin typeface="Inter Bold"/>
                <a:ea typeface="Inter Bold"/>
                <a:cs typeface="Inter Bold"/>
                <a:sym typeface="Inter Bold"/>
              </a:rPr>
              <a:t>SCS MINI PROJECT</a:t>
            </a:r>
          </a:p>
        </p:txBody>
      </p:sp>
      <p:sp>
        <p:nvSpPr>
          <p:cNvPr id="12" name="TextBox 12"/>
          <p:cNvSpPr txBox="1"/>
          <p:nvPr/>
        </p:nvSpPr>
        <p:spPr>
          <a:xfrm>
            <a:off x="7839727" y="5044333"/>
            <a:ext cx="9419573" cy="1384300"/>
          </a:xfrm>
          <a:prstGeom prst="rect">
            <a:avLst/>
          </a:prstGeom>
        </p:spPr>
        <p:txBody>
          <a:bodyPr lIns="0" tIns="0" rIns="0" bIns="0" rtlCol="0" anchor="t">
            <a:spAutoFit/>
          </a:bodyPr>
          <a:lstStyle/>
          <a:p>
            <a:pPr marL="0" lvl="0" indent="0" algn="l">
              <a:lnSpc>
                <a:spcPts val="5599"/>
              </a:lnSpc>
            </a:pPr>
            <a:r>
              <a:rPr lang="en-US" sz="3999" b="1" spc="399">
                <a:solidFill>
                  <a:srgbClr val="000000"/>
                </a:solidFill>
                <a:latin typeface="Roboto Bold"/>
                <a:ea typeface="Roboto Bold"/>
                <a:cs typeface="Roboto Bold"/>
                <a:sym typeface="Roboto Bold"/>
              </a:rPr>
              <a:t>BRIDGING SILENCE, EMPOWERING COMMUNICATION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0316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2023665"/>
            <a:chOff x="0" y="0"/>
            <a:chExt cx="4816593" cy="532982"/>
          </a:xfrm>
        </p:grpSpPr>
        <p:sp>
          <p:nvSpPr>
            <p:cNvPr id="3" name="Freeform 3"/>
            <p:cNvSpPr/>
            <p:nvPr/>
          </p:nvSpPr>
          <p:spPr>
            <a:xfrm>
              <a:off x="0" y="0"/>
              <a:ext cx="4816592" cy="532982"/>
            </a:xfrm>
            <a:custGeom>
              <a:avLst/>
              <a:gdLst/>
              <a:ahLst/>
              <a:cxnLst/>
              <a:rect l="l" t="t" r="r" b="b"/>
              <a:pathLst>
                <a:path w="4816592" h="532982">
                  <a:moveTo>
                    <a:pt x="0" y="0"/>
                  </a:moveTo>
                  <a:lnTo>
                    <a:pt x="4816592" y="0"/>
                  </a:lnTo>
                  <a:lnTo>
                    <a:pt x="4816592" y="532982"/>
                  </a:lnTo>
                  <a:lnTo>
                    <a:pt x="0" y="532982"/>
                  </a:lnTo>
                  <a:close/>
                </a:path>
              </a:pathLst>
            </a:custGeom>
            <a:solidFill>
              <a:srgbClr val="F2F7FF"/>
            </a:solidFill>
          </p:spPr>
        </p:sp>
        <p:sp>
          <p:nvSpPr>
            <p:cNvPr id="4" name="TextBox 4"/>
            <p:cNvSpPr txBox="1"/>
            <p:nvPr/>
          </p:nvSpPr>
          <p:spPr>
            <a:xfrm>
              <a:off x="0" y="-57150"/>
              <a:ext cx="4816593" cy="590132"/>
            </a:xfrm>
            <a:prstGeom prst="rect">
              <a:avLst/>
            </a:prstGeom>
          </p:spPr>
          <p:txBody>
            <a:bodyPr lIns="50800" tIns="50800" rIns="50800" bIns="50800" rtlCol="0" anchor="ctr"/>
            <a:lstStyle/>
            <a:p>
              <a:pPr algn="ctr">
                <a:lnSpc>
                  <a:spcPts val="3511"/>
                </a:lnSpc>
              </a:pPr>
              <a:endParaRPr/>
            </a:p>
          </p:txBody>
        </p:sp>
      </p:grpSp>
      <p:sp>
        <p:nvSpPr>
          <p:cNvPr id="5" name="TextBox 5"/>
          <p:cNvSpPr txBox="1"/>
          <p:nvPr/>
        </p:nvSpPr>
        <p:spPr>
          <a:xfrm>
            <a:off x="515905" y="3201124"/>
            <a:ext cx="9419573" cy="1406525"/>
          </a:xfrm>
          <a:prstGeom prst="rect">
            <a:avLst/>
          </a:prstGeom>
        </p:spPr>
        <p:txBody>
          <a:bodyPr lIns="0" tIns="0" rIns="0" bIns="0" rtlCol="0" anchor="t">
            <a:spAutoFit/>
          </a:bodyPr>
          <a:lstStyle/>
          <a:p>
            <a:pPr algn="l">
              <a:lnSpc>
                <a:spcPts val="2800"/>
              </a:lnSpc>
            </a:pPr>
            <a:r>
              <a:rPr lang="en-US" sz="2000" spc="400">
                <a:solidFill>
                  <a:srgbClr val="F2F7FF"/>
                </a:solidFill>
                <a:latin typeface="Inter"/>
                <a:ea typeface="Inter"/>
                <a:cs typeface="Inter"/>
                <a:sym typeface="Inter"/>
              </a:rPr>
              <a:t>To create a world where deaf-mute individuals communicate freely, confidently, and inclusively—empowered by advanced, accessible wearable technology.</a:t>
            </a:r>
          </a:p>
        </p:txBody>
      </p:sp>
      <p:sp>
        <p:nvSpPr>
          <p:cNvPr id="6" name="TextBox 6"/>
          <p:cNvSpPr txBox="1"/>
          <p:nvPr/>
        </p:nvSpPr>
        <p:spPr>
          <a:xfrm>
            <a:off x="7540608" y="7500101"/>
            <a:ext cx="10190500" cy="2463800"/>
          </a:xfrm>
          <a:prstGeom prst="rect">
            <a:avLst/>
          </a:prstGeom>
        </p:spPr>
        <p:txBody>
          <a:bodyPr lIns="0" tIns="0" rIns="0" bIns="0" rtlCol="0" anchor="t">
            <a:spAutoFit/>
          </a:bodyPr>
          <a:lstStyle/>
          <a:p>
            <a:pPr algn="r">
              <a:lnSpc>
                <a:spcPts val="2800"/>
              </a:lnSpc>
            </a:pPr>
            <a:r>
              <a:rPr lang="en-US" sz="2000" spc="400">
                <a:solidFill>
                  <a:srgbClr val="F2F7FF"/>
                </a:solidFill>
                <a:latin typeface="Inter"/>
                <a:ea typeface="Inter"/>
                <a:cs typeface="Inter"/>
                <a:sym typeface="Inter"/>
              </a:rPr>
              <a:t>To design, develop, and deliver an affordable, portable, and intelligent assistive device that bridges the communication gap for deaf-mute users. Through bidirectional translation of sign language to speech and speech to tactile feedback, we aim to foster independence, break social barriers, and enhance quality of life for the deaf-mute community.</a:t>
            </a:r>
          </a:p>
        </p:txBody>
      </p:sp>
      <p:sp>
        <p:nvSpPr>
          <p:cNvPr id="7" name="TextBox 7"/>
          <p:cNvSpPr txBox="1"/>
          <p:nvPr/>
        </p:nvSpPr>
        <p:spPr>
          <a:xfrm>
            <a:off x="515905" y="2584531"/>
            <a:ext cx="9419573" cy="533399"/>
          </a:xfrm>
          <a:prstGeom prst="rect">
            <a:avLst/>
          </a:prstGeom>
        </p:spPr>
        <p:txBody>
          <a:bodyPr lIns="0" tIns="0" rIns="0" bIns="0" rtlCol="0" anchor="t">
            <a:spAutoFit/>
          </a:bodyPr>
          <a:lstStyle/>
          <a:p>
            <a:pPr marL="0" lvl="0" indent="0" algn="l">
              <a:lnSpc>
                <a:spcPts val="4200"/>
              </a:lnSpc>
            </a:pPr>
            <a:r>
              <a:rPr lang="en-US" sz="3000" b="1" spc="300">
                <a:solidFill>
                  <a:srgbClr val="F2F7FF"/>
                </a:solidFill>
                <a:latin typeface="Roboto Bold"/>
                <a:ea typeface="Roboto Bold"/>
                <a:cs typeface="Roboto Bold"/>
                <a:sym typeface="Roboto Bold"/>
              </a:rPr>
              <a:t>OUR VISION</a:t>
            </a:r>
          </a:p>
        </p:txBody>
      </p:sp>
      <p:sp>
        <p:nvSpPr>
          <p:cNvPr id="8" name="TextBox 8"/>
          <p:cNvSpPr txBox="1"/>
          <p:nvPr/>
        </p:nvSpPr>
        <p:spPr>
          <a:xfrm>
            <a:off x="8311535" y="6883508"/>
            <a:ext cx="9419573" cy="533399"/>
          </a:xfrm>
          <a:prstGeom prst="rect">
            <a:avLst/>
          </a:prstGeom>
        </p:spPr>
        <p:txBody>
          <a:bodyPr lIns="0" tIns="0" rIns="0" bIns="0" rtlCol="0" anchor="t">
            <a:spAutoFit/>
          </a:bodyPr>
          <a:lstStyle/>
          <a:p>
            <a:pPr marL="0" lvl="0" indent="0" algn="r">
              <a:lnSpc>
                <a:spcPts val="4200"/>
              </a:lnSpc>
            </a:pPr>
            <a:r>
              <a:rPr lang="en-US" sz="3000" b="1" spc="300">
                <a:solidFill>
                  <a:srgbClr val="F2F7FF"/>
                </a:solidFill>
                <a:latin typeface="Roboto Bold"/>
                <a:ea typeface="Roboto Bold"/>
                <a:cs typeface="Roboto Bold"/>
                <a:sym typeface="Roboto Bold"/>
              </a:rPr>
              <a:t>OUR MISSION</a:t>
            </a:r>
          </a:p>
        </p:txBody>
      </p:sp>
      <p:sp>
        <p:nvSpPr>
          <p:cNvPr id="9" name="TextBox 9"/>
          <p:cNvSpPr txBox="1"/>
          <p:nvPr/>
        </p:nvSpPr>
        <p:spPr>
          <a:xfrm>
            <a:off x="2816123" y="477837"/>
            <a:ext cx="14486360" cy="1158875"/>
          </a:xfrm>
          <a:prstGeom prst="rect">
            <a:avLst/>
          </a:prstGeom>
        </p:spPr>
        <p:txBody>
          <a:bodyPr lIns="0" tIns="0" rIns="0" bIns="0" rtlCol="0" anchor="t">
            <a:spAutoFit/>
          </a:bodyPr>
          <a:lstStyle/>
          <a:p>
            <a:pPr marL="0" lvl="0" indent="0" algn="r">
              <a:lnSpc>
                <a:spcPts val="8800"/>
              </a:lnSpc>
            </a:pPr>
            <a:r>
              <a:rPr lang="en-US" sz="8000" spc="400">
                <a:solidFill>
                  <a:srgbClr val="10316B"/>
                </a:solidFill>
                <a:latin typeface="Archivo Black"/>
                <a:ea typeface="Archivo Black"/>
                <a:cs typeface="Archivo Black"/>
                <a:sym typeface="Archivo Black"/>
              </a:rPr>
              <a:t>VISION &amp; MISSION</a:t>
            </a:r>
          </a:p>
        </p:txBody>
      </p:sp>
      <p:grpSp>
        <p:nvGrpSpPr>
          <p:cNvPr id="10" name="Group 10"/>
          <p:cNvGrpSpPr/>
          <p:nvPr/>
        </p:nvGrpSpPr>
        <p:grpSpPr>
          <a:xfrm>
            <a:off x="10560900" y="2651206"/>
            <a:ext cx="9821954" cy="3784627"/>
            <a:chOff x="0" y="0"/>
            <a:chExt cx="1054699" cy="406400"/>
          </a:xfrm>
        </p:grpSpPr>
        <p:sp>
          <p:nvSpPr>
            <p:cNvPr id="11" name="Freeform 11"/>
            <p:cNvSpPr/>
            <p:nvPr/>
          </p:nvSpPr>
          <p:spPr>
            <a:xfrm>
              <a:off x="0" y="0"/>
              <a:ext cx="1054699" cy="406400"/>
            </a:xfrm>
            <a:custGeom>
              <a:avLst/>
              <a:gdLst/>
              <a:ahLst/>
              <a:cxnLst/>
              <a:rect l="l" t="t" r="r" b="b"/>
              <a:pathLst>
                <a:path w="1054699" h="406400">
                  <a:moveTo>
                    <a:pt x="851499" y="0"/>
                  </a:moveTo>
                  <a:cubicBezTo>
                    <a:pt x="963729" y="0"/>
                    <a:pt x="1054699" y="90970"/>
                    <a:pt x="1054699" y="203200"/>
                  </a:cubicBezTo>
                  <a:cubicBezTo>
                    <a:pt x="1054699" y="315430"/>
                    <a:pt x="963729" y="406400"/>
                    <a:pt x="851499" y="406400"/>
                  </a:cubicBezTo>
                  <a:lnTo>
                    <a:pt x="203200" y="406400"/>
                  </a:lnTo>
                  <a:cubicBezTo>
                    <a:pt x="90970" y="406400"/>
                    <a:pt x="0" y="315430"/>
                    <a:pt x="0" y="203200"/>
                  </a:cubicBezTo>
                  <a:cubicBezTo>
                    <a:pt x="0" y="90970"/>
                    <a:pt x="90970" y="0"/>
                    <a:pt x="203200" y="0"/>
                  </a:cubicBezTo>
                  <a:lnTo>
                    <a:pt x="851499" y="0"/>
                  </a:lnTo>
                </a:path>
              </a:pathLst>
            </a:custGeom>
            <a:blipFill>
              <a:blip r:embed="rId2"/>
              <a:stretch>
                <a:fillRect l="-17725" t="-53320" r="-22717" b="-120041"/>
              </a:stretch>
            </a:blipFill>
          </p:spPr>
        </p:sp>
      </p:grpSp>
      <p:grpSp>
        <p:nvGrpSpPr>
          <p:cNvPr id="12" name="Group 12"/>
          <p:cNvGrpSpPr/>
          <p:nvPr/>
        </p:nvGrpSpPr>
        <p:grpSpPr>
          <a:xfrm>
            <a:off x="-1843794" y="5642314"/>
            <a:ext cx="9821954" cy="3784627"/>
            <a:chOff x="0" y="0"/>
            <a:chExt cx="1054699" cy="406400"/>
          </a:xfrm>
        </p:grpSpPr>
        <p:sp>
          <p:nvSpPr>
            <p:cNvPr id="13" name="Freeform 13"/>
            <p:cNvSpPr/>
            <p:nvPr/>
          </p:nvSpPr>
          <p:spPr>
            <a:xfrm>
              <a:off x="0" y="0"/>
              <a:ext cx="1054699" cy="406400"/>
            </a:xfrm>
            <a:custGeom>
              <a:avLst/>
              <a:gdLst/>
              <a:ahLst/>
              <a:cxnLst/>
              <a:rect l="l" t="t" r="r" b="b"/>
              <a:pathLst>
                <a:path w="1054699" h="406400">
                  <a:moveTo>
                    <a:pt x="851499" y="0"/>
                  </a:moveTo>
                  <a:cubicBezTo>
                    <a:pt x="963729" y="0"/>
                    <a:pt x="1054699" y="90970"/>
                    <a:pt x="1054699" y="203200"/>
                  </a:cubicBezTo>
                  <a:cubicBezTo>
                    <a:pt x="1054699" y="315430"/>
                    <a:pt x="963729" y="406400"/>
                    <a:pt x="851499" y="406400"/>
                  </a:cubicBezTo>
                  <a:lnTo>
                    <a:pt x="203200" y="406400"/>
                  </a:lnTo>
                  <a:cubicBezTo>
                    <a:pt x="90970" y="406400"/>
                    <a:pt x="0" y="315430"/>
                    <a:pt x="0" y="203200"/>
                  </a:cubicBezTo>
                  <a:cubicBezTo>
                    <a:pt x="0" y="90970"/>
                    <a:pt x="90970" y="0"/>
                    <a:pt x="203200" y="0"/>
                  </a:cubicBezTo>
                  <a:lnTo>
                    <a:pt x="851499" y="0"/>
                  </a:lnTo>
                </a:path>
              </a:pathLst>
            </a:custGeom>
            <a:blipFill>
              <a:blip r:embed="rId3"/>
              <a:stretch>
                <a:fillRect t="-43225" r="-20785" b="-91872"/>
              </a:stretch>
            </a:blipFill>
          </p:spPr>
        </p:sp>
      </p:grpSp>
      <p:grpSp>
        <p:nvGrpSpPr>
          <p:cNvPr id="14" name="Group 14"/>
          <p:cNvGrpSpPr/>
          <p:nvPr/>
        </p:nvGrpSpPr>
        <p:grpSpPr>
          <a:xfrm>
            <a:off x="985517" y="809008"/>
            <a:ext cx="405649" cy="40564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316B"/>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17" name="Group 17"/>
          <p:cNvGrpSpPr/>
          <p:nvPr/>
        </p:nvGrpSpPr>
        <p:grpSpPr>
          <a:xfrm>
            <a:off x="1534041" y="809008"/>
            <a:ext cx="405649" cy="405649"/>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19" name="TextBox 19"/>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20" name="Group 20"/>
          <p:cNvGrpSpPr/>
          <p:nvPr/>
        </p:nvGrpSpPr>
        <p:grpSpPr>
          <a:xfrm>
            <a:off x="2082565" y="809008"/>
            <a:ext cx="405649" cy="40564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E63"/>
            </a:solidFill>
          </p:spPr>
        </p:sp>
        <p:sp>
          <p:nvSpPr>
            <p:cNvPr id="22" name="TextBox 22"/>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7FF"/>
        </a:solidFill>
        <a:effectLst/>
      </p:bgPr>
    </p:bg>
    <p:spTree>
      <p:nvGrpSpPr>
        <p:cNvPr id="1" name=""/>
        <p:cNvGrpSpPr/>
        <p:nvPr/>
      </p:nvGrpSpPr>
      <p:grpSpPr>
        <a:xfrm>
          <a:off x="0" y="0"/>
          <a:ext cx="0" cy="0"/>
          <a:chOff x="0" y="0"/>
          <a:chExt cx="0" cy="0"/>
        </a:xfrm>
      </p:grpSpPr>
      <p:grpSp>
        <p:nvGrpSpPr>
          <p:cNvPr id="2" name="Group 2"/>
          <p:cNvGrpSpPr/>
          <p:nvPr/>
        </p:nvGrpSpPr>
        <p:grpSpPr>
          <a:xfrm>
            <a:off x="15799786" y="1400808"/>
            <a:ext cx="405649" cy="40564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316B"/>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5" name="Group 5"/>
          <p:cNvGrpSpPr/>
          <p:nvPr/>
        </p:nvGrpSpPr>
        <p:grpSpPr>
          <a:xfrm>
            <a:off x="16348310" y="1400808"/>
            <a:ext cx="405649" cy="40564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8" name="Group 8"/>
          <p:cNvGrpSpPr/>
          <p:nvPr/>
        </p:nvGrpSpPr>
        <p:grpSpPr>
          <a:xfrm>
            <a:off x="16896834" y="1400808"/>
            <a:ext cx="405649" cy="40564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E63"/>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sp>
        <p:nvSpPr>
          <p:cNvPr id="11" name="Freeform 11"/>
          <p:cNvSpPr/>
          <p:nvPr/>
        </p:nvSpPr>
        <p:spPr>
          <a:xfrm rot="4757457">
            <a:off x="-5227549" y="2519129"/>
            <a:ext cx="11756667" cy="5682389"/>
          </a:xfrm>
          <a:custGeom>
            <a:avLst/>
            <a:gdLst/>
            <a:ahLst/>
            <a:cxnLst/>
            <a:rect l="l" t="t" r="r" b="b"/>
            <a:pathLst>
              <a:path w="11756667" h="5682389">
                <a:moveTo>
                  <a:pt x="0" y="0"/>
                </a:moveTo>
                <a:lnTo>
                  <a:pt x="11756667" y="0"/>
                </a:lnTo>
                <a:lnTo>
                  <a:pt x="11756667" y="5682389"/>
                </a:lnTo>
                <a:lnTo>
                  <a:pt x="0" y="5682389"/>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1962224" y="2220853"/>
            <a:ext cx="4377390" cy="708270"/>
            <a:chOff x="0" y="0"/>
            <a:chExt cx="1152893" cy="186540"/>
          </a:xfrm>
        </p:grpSpPr>
        <p:sp>
          <p:nvSpPr>
            <p:cNvPr id="13" name="Freeform 13"/>
            <p:cNvSpPr/>
            <p:nvPr/>
          </p:nvSpPr>
          <p:spPr>
            <a:xfrm>
              <a:off x="0" y="0"/>
              <a:ext cx="1152893" cy="186540"/>
            </a:xfrm>
            <a:custGeom>
              <a:avLst/>
              <a:gdLst/>
              <a:ahLst/>
              <a:cxnLst/>
              <a:rect l="l" t="t" r="r" b="b"/>
              <a:pathLst>
                <a:path w="1152893" h="186540">
                  <a:moveTo>
                    <a:pt x="24761" y="0"/>
                  </a:moveTo>
                  <a:lnTo>
                    <a:pt x="1128132" y="0"/>
                  </a:lnTo>
                  <a:cubicBezTo>
                    <a:pt x="1141807" y="0"/>
                    <a:pt x="1152893" y="11086"/>
                    <a:pt x="1152893" y="24761"/>
                  </a:cubicBezTo>
                  <a:lnTo>
                    <a:pt x="1152893" y="161780"/>
                  </a:lnTo>
                  <a:cubicBezTo>
                    <a:pt x="1152893" y="175455"/>
                    <a:pt x="1141807" y="186540"/>
                    <a:pt x="1128132" y="186540"/>
                  </a:cubicBezTo>
                  <a:lnTo>
                    <a:pt x="24761" y="186540"/>
                  </a:lnTo>
                  <a:cubicBezTo>
                    <a:pt x="11086" y="186540"/>
                    <a:pt x="0" y="175455"/>
                    <a:pt x="0" y="161780"/>
                  </a:cubicBezTo>
                  <a:lnTo>
                    <a:pt x="0" y="24761"/>
                  </a:lnTo>
                  <a:cubicBezTo>
                    <a:pt x="0" y="11086"/>
                    <a:pt x="11086" y="0"/>
                    <a:pt x="24761" y="0"/>
                  </a:cubicBezTo>
                  <a:close/>
                </a:path>
              </a:pathLst>
            </a:custGeom>
            <a:solidFill>
              <a:srgbClr val="10316B"/>
            </a:solidFill>
          </p:spPr>
        </p:sp>
        <p:sp>
          <p:nvSpPr>
            <p:cNvPr id="14" name="TextBox 14"/>
            <p:cNvSpPr txBox="1"/>
            <p:nvPr/>
          </p:nvSpPr>
          <p:spPr>
            <a:xfrm>
              <a:off x="0" y="-57150"/>
              <a:ext cx="1152893" cy="243690"/>
            </a:xfrm>
            <a:prstGeom prst="rect">
              <a:avLst/>
            </a:prstGeom>
          </p:spPr>
          <p:txBody>
            <a:bodyPr lIns="50800" tIns="50800" rIns="50800" bIns="50800" rtlCol="0" anchor="ctr"/>
            <a:lstStyle/>
            <a:p>
              <a:pPr algn="ctr">
                <a:lnSpc>
                  <a:spcPts val="3511"/>
                </a:lnSpc>
              </a:pPr>
              <a:r>
                <a:rPr lang="en-US" sz="2508" b="1" spc="501">
                  <a:solidFill>
                    <a:srgbClr val="FFFFFF"/>
                  </a:solidFill>
                  <a:latin typeface="Inter Bold"/>
                  <a:ea typeface="Inter Bold"/>
                  <a:cs typeface="Inter Bold"/>
                  <a:sym typeface="Inter Bold"/>
                </a:rPr>
                <a:t>Problem Statement</a:t>
              </a:r>
            </a:p>
          </p:txBody>
        </p:sp>
      </p:grpSp>
      <p:sp>
        <p:nvSpPr>
          <p:cNvPr id="15" name="Freeform 15"/>
          <p:cNvSpPr/>
          <p:nvPr/>
        </p:nvSpPr>
        <p:spPr>
          <a:xfrm>
            <a:off x="11608229" y="2076304"/>
            <a:ext cx="5145730" cy="7723422"/>
          </a:xfrm>
          <a:custGeom>
            <a:avLst/>
            <a:gdLst/>
            <a:ahLst/>
            <a:cxnLst/>
            <a:rect l="l" t="t" r="r" b="b"/>
            <a:pathLst>
              <a:path w="5145730" h="7723422">
                <a:moveTo>
                  <a:pt x="0" y="0"/>
                </a:moveTo>
                <a:lnTo>
                  <a:pt x="5145730" y="0"/>
                </a:lnTo>
                <a:lnTo>
                  <a:pt x="5145730" y="7723422"/>
                </a:lnTo>
                <a:lnTo>
                  <a:pt x="0" y="7723422"/>
                </a:lnTo>
                <a:lnTo>
                  <a:pt x="0" y="0"/>
                </a:lnTo>
                <a:close/>
              </a:path>
            </a:pathLst>
          </a:custGeom>
          <a:blipFill>
            <a:blip r:embed="rId4"/>
            <a:stretch>
              <a:fillRect/>
            </a:stretch>
          </a:blipFill>
        </p:spPr>
      </p:sp>
      <p:sp>
        <p:nvSpPr>
          <p:cNvPr id="16" name="TextBox 16"/>
          <p:cNvSpPr txBox="1"/>
          <p:nvPr/>
        </p:nvSpPr>
        <p:spPr>
          <a:xfrm>
            <a:off x="985517" y="635258"/>
            <a:ext cx="14671394" cy="1585595"/>
          </a:xfrm>
          <a:prstGeom prst="rect">
            <a:avLst/>
          </a:prstGeom>
        </p:spPr>
        <p:txBody>
          <a:bodyPr lIns="0" tIns="0" rIns="0" bIns="0" rtlCol="0" anchor="t">
            <a:spAutoFit/>
          </a:bodyPr>
          <a:lstStyle/>
          <a:p>
            <a:pPr algn="l">
              <a:lnSpc>
                <a:spcPts val="6160"/>
              </a:lnSpc>
            </a:pPr>
            <a:r>
              <a:rPr lang="en-US" sz="5600" spc="280">
                <a:solidFill>
                  <a:srgbClr val="10316B"/>
                </a:solidFill>
                <a:latin typeface="Archivo Black"/>
                <a:ea typeface="Archivo Black"/>
                <a:cs typeface="Archivo Black"/>
                <a:sym typeface="Archivo Black"/>
              </a:rPr>
              <a:t>INTRODUCTION &amp; MOTIVATION</a:t>
            </a:r>
          </a:p>
          <a:p>
            <a:pPr marL="0" lvl="0" indent="0" algn="l">
              <a:lnSpc>
                <a:spcPts val="6160"/>
              </a:lnSpc>
            </a:pPr>
            <a:endParaRPr lang="en-US" sz="5600" spc="280">
              <a:solidFill>
                <a:srgbClr val="10316B"/>
              </a:solidFill>
              <a:latin typeface="Archivo Black"/>
              <a:ea typeface="Archivo Black"/>
              <a:cs typeface="Archivo Black"/>
              <a:sym typeface="Archivo Black"/>
            </a:endParaRPr>
          </a:p>
        </p:txBody>
      </p:sp>
      <p:sp>
        <p:nvSpPr>
          <p:cNvPr id="17" name="TextBox 17"/>
          <p:cNvSpPr txBox="1"/>
          <p:nvPr/>
        </p:nvSpPr>
        <p:spPr>
          <a:xfrm>
            <a:off x="1638535" y="3234185"/>
            <a:ext cx="9443790" cy="2715895"/>
          </a:xfrm>
          <a:prstGeom prst="rect">
            <a:avLst/>
          </a:prstGeom>
        </p:spPr>
        <p:txBody>
          <a:bodyPr lIns="0" tIns="0" rIns="0" bIns="0" rtlCol="0" anchor="t">
            <a:spAutoFit/>
          </a:bodyPr>
          <a:lstStyle/>
          <a:p>
            <a:pPr marL="474981" lvl="1" indent="-237491" algn="l">
              <a:lnSpc>
                <a:spcPts val="3080"/>
              </a:lnSpc>
              <a:buFont typeface="Arial"/>
              <a:buChar char="•"/>
            </a:pPr>
            <a:r>
              <a:rPr lang="en-US" sz="2200" spc="440">
                <a:solidFill>
                  <a:srgbClr val="000000"/>
                </a:solidFill>
                <a:latin typeface="Inter"/>
                <a:ea typeface="Inter"/>
                <a:cs typeface="Inter"/>
                <a:sym typeface="Inter"/>
              </a:rPr>
              <a:t>Globally, 1.5 billion experience hearing loss.</a:t>
            </a:r>
          </a:p>
          <a:p>
            <a:pPr marL="474981" lvl="1" indent="-237491" algn="l">
              <a:lnSpc>
                <a:spcPts val="3080"/>
              </a:lnSpc>
              <a:buFont typeface="Arial"/>
              <a:buChar char="•"/>
            </a:pPr>
            <a:r>
              <a:rPr lang="en-US" sz="2200" spc="440">
                <a:solidFill>
                  <a:srgbClr val="000000"/>
                </a:solidFill>
                <a:latin typeface="Inter"/>
                <a:ea typeface="Inter"/>
                <a:cs typeface="Inter"/>
                <a:sym typeface="Inter"/>
              </a:rPr>
              <a:t>In India, ~63 million have hearing impairments .</a:t>
            </a:r>
          </a:p>
          <a:p>
            <a:pPr marL="474981" lvl="1" indent="-237491" algn="l">
              <a:lnSpc>
                <a:spcPts val="3080"/>
              </a:lnSpc>
              <a:buFont typeface="Arial"/>
              <a:buChar char="•"/>
            </a:pPr>
            <a:r>
              <a:rPr lang="en-US" sz="2200" spc="440">
                <a:solidFill>
                  <a:srgbClr val="000000"/>
                </a:solidFill>
                <a:latin typeface="Inter"/>
                <a:ea typeface="Inter"/>
                <a:cs typeface="Inter"/>
                <a:sym typeface="Inter"/>
              </a:rPr>
              <a:t>Deaf-mute people often struggle to communicate with the hearing world due to a lack of interpreters, high costs, and technology dependence.</a:t>
            </a:r>
          </a:p>
          <a:p>
            <a:pPr algn="l">
              <a:lnSpc>
                <a:spcPts val="3080"/>
              </a:lnSpc>
            </a:pPr>
            <a:endParaRPr lang="en-US" sz="2200" spc="440">
              <a:solidFill>
                <a:srgbClr val="000000"/>
              </a:solidFill>
              <a:latin typeface="Inter"/>
              <a:ea typeface="Inter"/>
              <a:cs typeface="Inter"/>
              <a:sym typeface="Inter"/>
            </a:endParaRPr>
          </a:p>
        </p:txBody>
      </p:sp>
      <p:grpSp>
        <p:nvGrpSpPr>
          <p:cNvPr id="18" name="Group 18"/>
          <p:cNvGrpSpPr/>
          <p:nvPr/>
        </p:nvGrpSpPr>
        <p:grpSpPr>
          <a:xfrm>
            <a:off x="1962224" y="6292980"/>
            <a:ext cx="4377390" cy="708270"/>
            <a:chOff x="0" y="0"/>
            <a:chExt cx="1152893" cy="186540"/>
          </a:xfrm>
        </p:grpSpPr>
        <p:sp>
          <p:nvSpPr>
            <p:cNvPr id="19" name="Freeform 19"/>
            <p:cNvSpPr/>
            <p:nvPr/>
          </p:nvSpPr>
          <p:spPr>
            <a:xfrm>
              <a:off x="0" y="0"/>
              <a:ext cx="1152893" cy="186540"/>
            </a:xfrm>
            <a:custGeom>
              <a:avLst/>
              <a:gdLst/>
              <a:ahLst/>
              <a:cxnLst/>
              <a:rect l="l" t="t" r="r" b="b"/>
              <a:pathLst>
                <a:path w="1152893" h="186540">
                  <a:moveTo>
                    <a:pt x="24761" y="0"/>
                  </a:moveTo>
                  <a:lnTo>
                    <a:pt x="1128132" y="0"/>
                  </a:lnTo>
                  <a:cubicBezTo>
                    <a:pt x="1141807" y="0"/>
                    <a:pt x="1152893" y="11086"/>
                    <a:pt x="1152893" y="24761"/>
                  </a:cubicBezTo>
                  <a:lnTo>
                    <a:pt x="1152893" y="161780"/>
                  </a:lnTo>
                  <a:cubicBezTo>
                    <a:pt x="1152893" y="175455"/>
                    <a:pt x="1141807" y="186540"/>
                    <a:pt x="1128132" y="186540"/>
                  </a:cubicBezTo>
                  <a:lnTo>
                    <a:pt x="24761" y="186540"/>
                  </a:lnTo>
                  <a:cubicBezTo>
                    <a:pt x="11086" y="186540"/>
                    <a:pt x="0" y="175455"/>
                    <a:pt x="0" y="161780"/>
                  </a:cubicBezTo>
                  <a:lnTo>
                    <a:pt x="0" y="24761"/>
                  </a:lnTo>
                  <a:cubicBezTo>
                    <a:pt x="0" y="11086"/>
                    <a:pt x="11086" y="0"/>
                    <a:pt x="24761" y="0"/>
                  </a:cubicBezTo>
                  <a:close/>
                </a:path>
              </a:pathLst>
            </a:custGeom>
            <a:solidFill>
              <a:srgbClr val="10316B"/>
            </a:solidFill>
          </p:spPr>
        </p:sp>
        <p:sp>
          <p:nvSpPr>
            <p:cNvPr id="20" name="TextBox 20"/>
            <p:cNvSpPr txBox="1"/>
            <p:nvPr/>
          </p:nvSpPr>
          <p:spPr>
            <a:xfrm>
              <a:off x="0" y="-57150"/>
              <a:ext cx="1152893" cy="243690"/>
            </a:xfrm>
            <a:prstGeom prst="rect">
              <a:avLst/>
            </a:prstGeom>
          </p:spPr>
          <p:txBody>
            <a:bodyPr lIns="50800" tIns="50800" rIns="50800" bIns="50800" rtlCol="0" anchor="ctr"/>
            <a:lstStyle/>
            <a:p>
              <a:pPr algn="ctr">
                <a:lnSpc>
                  <a:spcPts val="3511"/>
                </a:lnSpc>
              </a:pPr>
              <a:r>
                <a:rPr lang="en-US" sz="2508" b="1" spc="501">
                  <a:solidFill>
                    <a:srgbClr val="FFFFFF"/>
                  </a:solidFill>
                  <a:latin typeface="Inter Bold"/>
                  <a:ea typeface="Inter Bold"/>
                  <a:cs typeface="Inter Bold"/>
                  <a:sym typeface="Inter Bold"/>
                </a:rPr>
                <a:t>Solution</a:t>
              </a:r>
            </a:p>
          </p:txBody>
        </p:sp>
      </p:grpSp>
      <p:sp>
        <p:nvSpPr>
          <p:cNvPr id="21" name="TextBox 21"/>
          <p:cNvSpPr txBox="1"/>
          <p:nvPr/>
        </p:nvSpPr>
        <p:spPr>
          <a:xfrm>
            <a:off x="1638535" y="7306312"/>
            <a:ext cx="9443790" cy="763270"/>
          </a:xfrm>
          <a:prstGeom prst="rect">
            <a:avLst/>
          </a:prstGeom>
        </p:spPr>
        <p:txBody>
          <a:bodyPr lIns="0" tIns="0" rIns="0" bIns="0" rtlCol="0" anchor="t">
            <a:spAutoFit/>
          </a:bodyPr>
          <a:lstStyle/>
          <a:p>
            <a:pPr algn="l">
              <a:lnSpc>
                <a:spcPts val="3080"/>
              </a:lnSpc>
            </a:pPr>
            <a:r>
              <a:rPr lang="en-US" sz="2200" spc="440">
                <a:solidFill>
                  <a:srgbClr val="000000"/>
                </a:solidFill>
                <a:latin typeface="Inter"/>
                <a:ea typeface="Inter"/>
                <a:cs typeface="Inter"/>
                <a:sym typeface="Inter"/>
              </a:rPr>
              <a:t>affordable, portable, and independent communication Device for deaf-mute community.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7FF"/>
        </a:solidFill>
        <a:effectLst/>
      </p:bgPr>
    </p:bg>
    <p:spTree>
      <p:nvGrpSpPr>
        <p:cNvPr id="1" name=""/>
        <p:cNvGrpSpPr/>
        <p:nvPr/>
      </p:nvGrpSpPr>
      <p:grpSpPr>
        <a:xfrm>
          <a:off x="0" y="0"/>
          <a:ext cx="0" cy="0"/>
          <a:chOff x="0" y="0"/>
          <a:chExt cx="0" cy="0"/>
        </a:xfrm>
      </p:grpSpPr>
      <p:sp>
        <p:nvSpPr>
          <p:cNvPr id="2" name="TextBox 2"/>
          <p:cNvSpPr txBox="1"/>
          <p:nvPr/>
        </p:nvSpPr>
        <p:spPr>
          <a:xfrm>
            <a:off x="1736865" y="7175701"/>
            <a:ext cx="7146140" cy="1406525"/>
          </a:xfrm>
          <a:prstGeom prst="rect">
            <a:avLst/>
          </a:prstGeom>
        </p:spPr>
        <p:txBody>
          <a:bodyPr lIns="0" tIns="0" rIns="0" bIns="0" rtlCol="0" anchor="t">
            <a:spAutoFit/>
          </a:bodyPr>
          <a:lstStyle/>
          <a:p>
            <a:pPr algn="l">
              <a:lnSpc>
                <a:spcPts val="2800"/>
              </a:lnSpc>
            </a:pPr>
            <a:r>
              <a:rPr lang="en-US" sz="2000" spc="400">
                <a:solidFill>
                  <a:srgbClr val="000000"/>
                </a:solidFill>
                <a:latin typeface="Inter"/>
                <a:ea typeface="Inter"/>
                <a:cs typeface="Inter"/>
                <a:sym typeface="Inter"/>
              </a:rPr>
              <a:t>Focused on Indian Sign Language using camera-based visual tracking, which reduced portability due to environmental constraints.</a:t>
            </a:r>
          </a:p>
        </p:txBody>
      </p:sp>
      <p:sp>
        <p:nvSpPr>
          <p:cNvPr id="3" name="TextBox 3"/>
          <p:cNvSpPr txBox="1"/>
          <p:nvPr/>
        </p:nvSpPr>
        <p:spPr>
          <a:xfrm>
            <a:off x="10156343" y="7175701"/>
            <a:ext cx="7146140" cy="1758950"/>
          </a:xfrm>
          <a:prstGeom prst="rect">
            <a:avLst/>
          </a:prstGeom>
        </p:spPr>
        <p:txBody>
          <a:bodyPr lIns="0" tIns="0" rIns="0" bIns="0" rtlCol="0" anchor="t">
            <a:spAutoFit/>
          </a:bodyPr>
          <a:lstStyle/>
          <a:p>
            <a:pPr algn="l">
              <a:lnSpc>
                <a:spcPts val="2800"/>
              </a:lnSpc>
            </a:pPr>
            <a:r>
              <a:rPr lang="en-US" sz="2000" spc="400">
                <a:solidFill>
                  <a:srgbClr val="000000"/>
                </a:solidFill>
                <a:latin typeface="Inter"/>
                <a:ea typeface="Inter"/>
                <a:cs typeface="Inter"/>
                <a:sym typeface="Inter"/>
              </a:rPr>
              <a:t>Developed flex sensor modules with Hidden Markov Models for English alphabets but mainly addressed static gestures, lacking support for dynamic signs needed for natural interaction.</a:t>
            </a:r>
          </a:p>
        </p:txBody>
      </p:sp>
      <p:sp>
        <p:nvSpPr>
          <p:cNvPr id="4" name="TextBox 4"/>
          <p:cNvSpPr txBox="1"/>
          <p:nvPr/>
        </p:nvSpPr>
        <p:spPr>
          <a:xfrm>
            <a:off x="1736865" y="6559108"/>
            <a:ext cx="7146140" cy="533399"/>
          </a:xfrm>
          <a:prstGeom prst="rect">
            <a:avLst/>
          </a:prstGeom>
        </p:spPr>
        <p:txBody>
          <a:bodyPr lIns="0" tIns="0" rIns="0" bIns="0" rtlCol="0" anchor="t">
            <a:spAutoFit/>
          </a:bodyPr>
          <a:lstStyle/>
          <a:p>
            <a:pPr marL="0" lvl="0" indent="0" algn="l">
              <a:lnSpc>
                <a:spcPts val="4200"/>
              </a:lnSpc>
            </a:pPr>
            <a:r>
              <a:rPr lang="en-US" sz="3000" b="1" spc="300">
                <a:solidFill>
                  <a:srgbClr val="000000"/>
                </a:solidFill>
                <a:latin typeface="Roboto Bold"/>
                <a:ea typeface="Roboto Bold"/>
                <a:cs typeface="Roboto Bold"/>
                <a:sym typeface="Roboto Bold"/>
              </a:rPr>
              <a:t>GHOTKAR ET AL. </a:t>
            </a:r>
          </a:p>
        </p:txBody>
      </p:sp>
      <p:sp>
        <p:nvSpPr>
          <p:cNvPr id="5" name="TextBox 5"/>
          <p:cNvSpPr txBox="1"/>
          <p:nvPr/>
        </p:nvSpPr>
        <p:spPr>
          <a:xfrm>
            <a:off x="10156343" y="6559108"/>
            <a:ext cx="7146140" cy="533399"/>
          </a:xfrm>
          <a:prstGeom prst="rect">
            <a:avLst/>
          </a:prstGeom>
        </p:spPr>
        <p:txBody>
          <a:bodyPr lIns="0" tIns="0" rIns="0" bIns="0" rtlCol="0" anchor="t">
            <a:spAutoFit/>
          </a:bodyPr>
          <a:lstStyle/>
          <a:p>
            <a:pPr marL="0" lvl="0" indent="0" algn="l">
              <a:lnSpc>
                <a:spcPts val="4200"/>
              </a:lnSpc>
            </a:pPr>
            <a:r>
              <a:rPr lang="en-US" sz="3000" b="1" spc="300">
                <a:solidFill>
                  <a:srgbClr val="000000"/>
                </a:solidFill>
                <a:latin typeface="Roboto Bold"/>
                <a:ea typeface="Roboto Bold"/>
                <a:cs typeface="Roboto Bold"/>
                <a:sym typeface="Roboto Bold"/>
              </a:rPr>
              <a:t>VIGNESHWARAN ET AL. </a:t>
            </a:r>
          </a:p>
        </p:txBody>
      </p:sp>
      <p:grpSp>
        <p:nvGrpSpPr>
          <p:cNvPr id="6" name="Group 6"/>
          <p:cNvGrpSpPr/>
          <p:nvPr/>
        </p:nvGrpSpPr>
        <p:grpSpPr>
          <a:xfrm>
            <a:off x="0" y="0"/>
            <a:ext cx="18288000" cy="2153034"/>
            <a:chOff x="0" y="0"/>
            <a:chExt cx="4816593" cy="567054"/>
          </a:xfrm>
        </p:grpSpPr>
        <p:sp>
          <p:nvSpPr>
            <p:cNvPr id="7" name="Freeform 7"/>
            <p:cNvSpPr/>
            <p:nvPr/>
          </p:nvSpPr>
          <p:spPr>
            <a:xfrm>
              <a:off x="0" y="0"/>
              <a:ext cx="4816592" cy="567054"/>
            </a:xfrm>
            <a:custGeom>
              <a:avLst/>
              <a:gdLst/>
              <a:ahLst/>
              <a:cxnLst/>
              <a:rect l="l" t="t" r="r" b="b"/>
              <a:pathLst>
                <a:path w="4816592" h="567054">
                  <a:moveTo>
                    <a:pt x="0" y="0"/>
                  </a:moveTo>
                  <a:lnTo>
                    <a:pt x="4816592" y="0"/>
                  </a:lnTo>
                  <a:lnTo>
                    <a:pt x="4816592" y="567054"/>
                  </a:lnTo>
                  <a:lnTo>
                    <a:pt x="0" y="567054"/>
                  </a:lnTo>
                  <a:close/>
                </a:path>
              </a:pathLst>
            </a:custGeom>
            <a:solidFill>
              <a:srgbClr val="10316B"/>
            </a:solidFill>
          </p:spPr>
        </p:sp>
        <p:sp>
          <p:nvSpPr>
            <p:cNvPr id="8" name="TextBox 8"/>
            <p:cNvSpPr txBox="1"/>
            <p:nvPr/>
          </p:nvSpPr>
          <p:spPr>
            <a:xfrm>
              <a:off x="0" y="-57150"/>
              <a:ext cx="4816593" cy="624204"/>
            </a:xfrm>
            <a:prstGeom prst="rect">
              <a:avLst/>
            </a:prstGeom>
          </p:spPr>
          <p:txBody>
            <a:bodyPr lIns="50800" tIns="50800" rIns="50800" bIns="50800" rtlCol="0" anchor="ctr"/>
            <a:lstStyle/>
            <a:p>
              <a:pPr algn="ctr">
                <a:lnSpc>
                  <a:spcPts val="3511"/>
                </a:lnSpc>
              </a:pPr>
              <a:endParaRPr/>
            </a:p>
          </p:txBody>
        </p:sp>
      </p:grpSp>
      <p:sp>
        <p:nvSpPr>
          <p:cNvPr id="9" name="TextBox 9"/>
          <p:cNvSpPr txBox="1"/>
          <p:nvPr/>
        </p:nvSpPr>
        <p:spPr>
          <a:xfrm>
            <a:off x="2816123" y="584438"/>
            <a:ext cx="14486360" cy="1003300"/>
          </a:xfrm>
          <a:prstGeom prst="rect">
            <a:avLst/>
          </a:prstGeom>
        </p:spPr>
        <p:txBody>
          <a:bodyPr lIns="0" tIns="0" rIns="0" bIns="0" rtlCol="0" anchor="t">
            <a:spAutoFit/>
          </a:bodyPr>
          <a:lstStyle/>
          <a:p>
            <a:pPr marL="0" lvl="0" indent="0" algn="r">
              <a:lnSpc>
                <a:spcPts val="7699"/>
              </a:lnSpc>
            </a:pPr>
            <a:r>
              <a:rPr lang="en-US" sz="6999" spc="349">
                <a:solidFill>
                  <a:srgbClr val="F2F7FF"/>
                </a:solidFill>
                <a:latin typeface="Archivo Black"/>
                <a:ea typeface="Archivo Black"/>
                <a:cs typeface="Archivo Black"/>
                <a:sym typeface="Archivo Black"/>
              </a:rPr>
              <a:t>LITERATURE SURVEY</a:t>
            </a:r>
          </a:p>
        </p:txBody>
      </p:sp>
      <p:grpSp>
        <p:nvGrpSpPr>
          <p:cNvPr id="10" name="Group 10"/>
          <p:cNvGrpSpPr/>
          <p:nvPr/>
        </p:nvGrpSpPr>
        <p:grpSpPr>
          <a:xfrm>
            <a:off x="985517" y="1067038"/>
            <a:ext cx="405649" cy="405649"/>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7FF"/>
            </a:solidFill>
          </p:spPr>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13" name="Group 13"/>
          <p:cNvGrpSpPr/>
          <p:nvPr/>
        </p:nvGrpSpPr>
        <p:grpSpPr>
          <a:xfrm>
            <a:off x="1534041" y="1067038"/>
            <a:ext cx="405649" cy="40564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16" name="Group 16"/>
          <p:cNvGrpSpPr/>
          <p:nvPr/>
        </p:nvGrpSpPr>
        <p:grpSpPr>
          <a:xfrm>
            <a:off x="985517" y="3010007"/>
            <a:ext cx="405649" cy="40564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18" name="TextBox 18"/>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19" name="Group 19"/>
          <p:cNvGrpSpPr/>
          <p:nvPr/>
        </p:nvGrpSpPr>
        <p:grpSpPr>
          <a:xfrm>
            <a:off x="9404994" y="3010007"/>
            <a:ext cx="405649" cy="405649"/>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22" name="Group 22"/>
          <p:cNvGrpSpPr/>
          <p:nvPr/>
        </p:nvGrpSpPr>
        <p:grpSpPr>
          <a:xfrm>
            <a:off x="985517" y="6661083"/>
            <a:ext cx="405649" cy="405649"/>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24" name="TextBox 24"/>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25" name="Group 25"/>
          <p:cNvGrpSpPr/>
          <p:nvPr/>
        </p:nvGrpSpPr>
        <p:grpSpPr>
          <a:xfrm>
            <a:off x="9404994" y="6661083"/>
            <a:ext cx="405649" cy="405649"/>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27" name="TextBox 27"/>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28" name="Group 28"/>
          <p:cNvGrpSpPr/>
          <p:nvPr/>
        </p:nvGrpSpPr>
        <p:grpSpPr>
          <a:xfrm>
            <a:off x="2082565" y="1067038"/>
            <a:ext cx="405649" cy="405649"/>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E63"/>
            </a:solidFill>
          </p:spPr>
        </p:sp>
        <p:sp>
          <p:nvSpPr>
            <p:cNvPr id="30" name="TextBox 30"/>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sp>
        <p:nvSpPr>
          <p:cNvPr id="31" name="TextBox 31"/>
          <p:cNvSpPr txBox="1"/>
          <p:nvPr/>
        </p:nvSpPr>
        <p:spPr>
          <a:xfrm>
            <a:off x="1736865" y="3498850"/>
            <a:ext cx="7146140" cy="2111375"/>
          </a:xfrm>
          <a:prstGeom prst="rect">
            <a:avLst/>
          </a:prstGeom>
        </p:spPr>
        <p:txBody>
          <a:bodyPr lIns="0" tIns="0" rIns="0" bIns="0" rtlCol="0" anchor="t">
            <a:spAutoFit/>
          </a:bodyPr>
          <a:lstStyle/>
          <a:p>
            <a:pPr algn="l">
              <a:lnSpc>
                <a:spcPts val="2800"/>
              </a:lnSpc>
            </a:pPr>
            <a:r>
              <a:rPr lang="en-US" sz="2000" spc="400">
                <a:solidFill>
                  <a:srgbClr val="000000"/>
                </a:solidFill>
                <a:latin typeface="Inter"/>
                <a:ea typeface="Inter"/>
                <a:cs typeface="Inter"/>
                <a:sym typeface="Inter"/>
              </a:rPr>
              <a:t>Early systems, like those by Ahmed et al., used flex sensors with Arduino to detect finger movements and trigger simple audio responses but were limited to one-way communication and small vocabularies</a:t>
            </a:r>
          </a:p>
        </p:txBody>
      </p:sp>
      <p:sp>
        <p:nvSpPr>
          <p:cNvPr id="32" name="TextBox 32"/>
          <p:cNvSpPr txBox="1"/>
          <p:nvPr/>
        </p:nvSpPr>
        <p:spPr>
          <a:xfrm>
            <a:off x="10156343" y="3498850"/>
            <a:ext cx="7146140" cy="1406525"/>
          </a:xfrm>
          <a:prstGeom prst="rect">
            <a:avLst/>
          </a:prstGeom>
        </p:spPr>
        <p:txBody>
          <a:bodyPr lIns="0" tIns="0" rIns="0" bIns="0" rtlCol="0" anchor="t">
            <a:spAutoFit/>
          </a:bodyPr>
          <a:lstStyle/>
          <a:p>
            <a:pPr algn="l">
              <a:lnSpc>
                <a:spcPts val="2800"/>
              </a:lnSpc>
            </a:pPr>
            <a:r>
              <a:rPr lang="en-US" sz="2000" spc="400">
                <a:solidFill>
                  <a:srgbClr val="000000"/>
                </a:solidFill>
                <a:latin typeface="Inter"/>
                <a:ea typeface="Inter"/>
                <a:cs typeface="Inter"/>
                <a:sym typeface="Inter"/>
              </a:rPr>
              <a:t>Enhanced this by combining flex, pressure sensors, and an inertial unit for ASL character recognition, supported by mobile apps but relying on connectivity.</a:t>
            </a:r>
          </a:p>
        </p:txBody>
      </p:sp>
      <p:sp>
        <p:nvSpPr>
          <p:cNvPr id="33" name="TextBox 33"/>
          <p:cNvSpPr txBox="1"/>
          <p:nvPr/>
        </p:nvSpPr>
        <p:spPr>
          <a:xfrm>
            <a:off x="1736865" y="2882257"/>
            <a:ext cx="7146140" cy="533399"/>
          </a:xfrm>
          <a:prstGeom prst="rect">
            <a:avLst/>
          </a:prstGeom>
        </p:spPr>
        <p:txBody>
          <a:bodyPr lIns="0" tIns="0" rIns="0" bIns="0" rtlCol="0" anchor="t">
            <a:spAutoFit/>
          </a:bodyPr>
          <a:lstStyle/>
          <a:p>
            <a:pPr marL="0" lvl="0" indent="0" algn="l">
              <a:lnSpc>
                <a:spcPts val="4200"/>
              </a:lnSpc>
            </a:pPr>
            <a:r>
              <a:rPr lang="en-US" sz="3000" b="1" spc="300">
                <a:solidFill>
                  <a:srgbClr val="000000"/>
                </a:solidFill>
                <a:latin typeface="Roboto Bold"/>
                <a:ea typeface="Roboto Bold"/>
                <a:cs typeface="Roboto Bold"/>
                <a:sym typeface="Roboto Bold"/>
              </a:rPr>
              <a:t>AHMED ET AL.</a:t>
            </a:r>
          </a:p>
        </p:txBody>
      </p:sp>
      <p:sp>
        <p:nvSpPr>
          <p:cNvPr id="34" name="TextBox 34"/>
          <p:cNvSpPr txBox="1"/>
          <p:nvPr/>
        </p:nvSpPr>
        <p:spPr>
          <a:xfrm>
            <a:off x="10156343" y="2882257"/>
            <a:ext cx="7146140" cy="533399"/>
          </a:xfrm>
          <a:prstGeom prst="rect">
            <a:avLst/>
          </a:prstGeom>
        </p:spPr>
        <p:txBody>
          <a:bodyPr lIns="0" tIns="0" rIns="0" bIns="0" rtlCol="0" anchor="t">
            <a:spAutoFit/>
          </a:bodyPr>
          <a:lstStyle/>
          <a:p>
            <a:pPr marL="0" lvl="0" indent="0" algn="l">
              <a:lnSpc>
                <a:spcPts val="4200"/>
              </a:lnSpc>
            </a:pPr>
            <a:r>
              <a:rPr lang="en-US" sz="3000" b="1" spc="300">
                <a:solidFill>
                  <a:srgbClr val="000000"/>
                </a:solidFill>
                <a:latin typeface="Roboto Bold"/>
                <a:ea typeface="Roboto Bold"/>
                <a:cs typeface="Roboto Bold"/>
                <a:sym typeface="Roboto Bold"/>
              </a:rPr>
              <a:t>LEE &amp; LEE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316B"/>
        </a:solidFill>
        <a:effectLst/>
      </p:bgPr>
    </p:bg>
    <p:spTree>
      <p:nvGrpSpPr>
        <p:cNvPr id="1" name=""/>
        <p:cNvGrpSpPr/>
        <p:nvPr/>
      </p:nvGrpSpPr>
      <p:grpSpPr>
        <a:xfrm>
          <a:off x="0" y="0"/>
          <a:ext cx="0" cy="0"/>
          <a:chOff x="0" y="0"/>
          <a:chExt cx="0" cy="0"/>
        </a:xfrm>
      </p:grpSpPr>
      <p:sp>
        <p:nvSpPr>
          <p:cNvPr id="2" name="Freeform 2"/>
          <p:cNvSpPr/>
          <p:nvPr/>
        </p:nvSpPr>
        <p:spPr>
          <a:xfrm rot="6357769">
            <a:off x="-4070712" y="1826007"/>
            <a:ext cx="11756667" cy="5682389"/>
          </a:xfrm>
          <a:custGeom>
            <a:avLst/>
            <a:gdLst/>
            <a:ahLst/>
            <a:cxnLst/>
            <a:rect l="l" t="t" r="r" b="b"/>
            <a:pathLst>
              <a:path w="11756667" h="5682389">
                <a:moveTo>
                  <a:pt x="0" y="0"/>
                </a:moveTo>
                <a:lnTo>
                  <a:pt x="11756667" y="0"/>
                </a:lnTo>
                <a:lnTo>
                  <a:pt x="11756667" y="5682389"/>
                </a:lnTo>
                <a:lnTo>
                  <a:pt x="0" y="5682389"/>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6045022" y="1652842"/>
            <a:ext cx="405649" cy="405649"/>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316B"/>
            </a:solidFill>
          </p:spPr>
        </p:sp>
        <p:sp>
          <p:nvSpPr>
            <p:cNvPr id="5" name="TextBox 5"/>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6" name="Group 6"/>
          <p:cNvGrpSpPr/>
          <p:nvPr/>
        </p:nvGrpSpPr>
        <p:grpSpPr>
          <a:xfrm>
            <a:off x="16593546" y="1652842"/>
            <a:ext cx="405649" cy="40564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8" name="TextBox 8"/>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9" name="Group 9"/>
          <p:cNvGrpSpPr/>
          <p:nvPr/>
        </p:nvGrpSpPr>
        <p:grpSpPr>
          <a:xfrm>
            <a:off x="17142070" y="1652842"/>
            <a:ext cx="405649" cy="405649"/>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E63"/>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12" name="Group 12"/>
          <p:cNvGrpSpPr/>
          <p:nvPr/>
        </p:nvGrpSpPr>
        <p:grpSpPr>
          <a:xfrm>
            <a:off x="254394" y="1028700"/>
            <a:ext cx="22184570" cy="8996328"/>
            <a:chOff x="0" y="0"/>
            <a:chExt cx="1002165" cy="406400"/>
          </a:xfrm>
        </p:grpSpPr>
        <p:sp>
          <p:nvSpPr>
            <p:cNvPr id="13" name="Freeform 13"/>
            <p:cNvSpPr/>
            <p:nvPr/>
          </p:nvSpPr>
          <p:spPr>
            <a:xfrm>
              <a:off x="0" y="0"/>
              <a:ext cx="1002165" cy="406400"/>
            </a:xfrm>
            <a:custGeom>
              <a:avLst/>
              <a:gdLst/>
              <a:ahLst/>
              <a:cxnLst/>
              <a:rect l="l" t="t" r="r" b="b"/>
              <a:pathLst>
                <a:path w="1002165" h="406400">
                  <a:moveTo>
                    <a:pt x="798965" y="0"/>
                  </a:moveTo>
                  <a:cubicBezTo>
                    <a:pt x="911190" y="0"/>
                    <a:pt x="1002165" y="90976"/>
                    <a:pt x="1002165" y="203200"/>
                  </a:cubicBezTo>
                  <a:cubicBezTo>
                    <a:pt x="1002165" y="315424"/>
                    <a:pt x="911190" y="406400"/>
                    <a:pt x="798965"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id="14" name="TextBox 14"/>
            <p:cNvSpPr txBox="1"/>
            <p:nvPr/>
          </p:nvSpPr>
          <p:spPr>
            <a:xfrm>
              <a:off x="0" y="-57150"/>
              <a:ext cx="1002165" cy="463550"/>
            </a:xfrm>
            <a:prstGeom prst="rect">
              <a:avLst/>
            </a:prstGeom>
          </p:spPr>
          <p:txBody>
            <a:bodyPr lIns="50800" tIns="50800" rIns="50800" bIns="50800" rtlCol="0" anchor="ctr"/>
            <a:lstStyle/>
            <a:p>
              <a:pPr algn="ctr">
                <a:lnSpc>
                  <a:spcPts val="3511"/>
                </a:lnSpc>
              </a:pPr>
              <a:endParaRPr/>
            </a:p>
          </p:txBody>
        </p:sp>
      </p:grpSp>
      <p:sp>
        <p:nvSpPr>
          <p:cNvPr id="15" name="Freeform 15"/>
          <p:cNvSpPr/>
          <p:nvPr/>
        </p:nvSpPr>
        <p:spPr>
          <a:xfrm>
            <a:off x="3219801" y="5425261"/>
            <a:ext cx="6024563" cy="4013865"/>
          </a:xfrm>
          <a:custGeom>
            <a:avLst/>
            <a:gdLst/>
            <a:ahLst/>
            <a:cxnLst/>
            <a:rect l="l" t="t" r="r" b="b"/>
            <a:pathLst>
              <a:path w="6024563" h="4013865">
                <a:moveTo>
                  <a:pt x="0" y="0"/>
                </a:moveTo>
                <a:lnTo>
                  <a:pt x="6024563" y="0"/>
                </a:lnTo>
                <a:lnTo>
                  <a:pt x="6024563" y="4013865"/>
                </a:lnTo>
                <a:lnTo>
                  <a:pt x="0" y="4013865"/>
                </a:lnTo>
                <a:lnTo>
                  <a:pt x="0" y="0"/>
                </a:lnTo>
                <a:close/>
              </a:path>
            </a:pathLst>
          </a:custGeom>
          <a:blipFill>
            <a:blip r:embed="rId4"/>
            <a:stretch>
              <a:fillRect/>
            </a:stretch>
          </a:blipFill>
        </p:spPr>
      </p:sp>
      <p:sp>
        <p:nvSpPr>
          <p:cNvPr id="16" name="TextBox 16"/>
          <p:cNvSpPr txBox="1"/>
          <p:nvPr/>
        </p:nvSpPr>
        <p:spPr>
          <a:xfrm>
            <a:off x="2265359" y="2115641"/>
            <a:ext cx="8162344" cy="3309620"/>
          </a:xfrm>
          <a:prstGeom prst="rect">
            <a:avLst/>
          </a:prstGeom>
        </p:spPr>
        <p:txBody>
          <a:bodyPr lIns="0" tIns="0" rIns="0" bIns="0" rtlCol="0" anchor="t">
            <a:spAutoFit/>
          </a:bodyPr>
          <a:lstStyle/>
          <a:p>
            <a:pPr algn="l">
              <a:lnSpc>
                <a:spcPts val="7699"/>
              </a:lnSpc>
            </a:pPr>
            <a:r>
              <a:rPr lang="en-US" sz="6999" spc="349">
                <a:solidFill>
                  <a:srgbClr val="10316B"/>
                </a:solidFill>
                <a:latin typeface="Archivo Black"/>
                <a:ea typeface="Archivo Black"/>
                <a:cs typeface="Archivo Black"/>
                <a:sym typeface="Archivo Black"/>
              </a:rPr>
              <a:t>VANITRA</a:t>
            </a:r>
          </a:p>
          <a:p>
            <a:pPr marL="0" lvl="0" indent="0" algn="l">
              <a:lnSpc>
                <a:spcPts val="4620"/>
              </a:lnSpc>
            </a:pPr>
            <a:r>
              <a:rPr lang="en-US" sz="4200" spc="210">
                <a:solidFill>
                  <a:srgbClr val="000000"/>
                </a:solidFill>
                <a:latin typeface="Archivo Black"/>
                <a:ea typeface="Archivo Black"/>
                <a:cs typeface="Archivo Black"/>
                <a:sym typeface="Archivo Black"/>
              </a:rPr>
              <a:t>CONSISTS OF TWO WEARABLE MODULES THAT WORK TOGETHER SEAMLESSLY:</a:t>
            </a:r>
          </a:p>
        </p:txBody>
      </p:sp>
      <p:sp>
        <p:nvSpPr>
          <p:cNvPr id="17" name="TextBox 17"/>
          <p:cNvSpPr txBox="1"/>
          <p:nvPr/>
        </p:nvSpPr>
        <p:spPr>
          <a:xfrm>
            <a:off x="9787169" y="2418635"/>
            <a:ext cx="7760550" cy="5840095"/>
          </a:xfrm>
          <a:prstGeom prst="rect">
            <a:avLst/>
          </a:prstGeom>
        </p:spPr>
        <p:txBody>
          <a:bodyPr lIns="0" tIns="0" rIns="0" bIns="0" rtlCol="0" anchor="t">
            <a:spAutoFit/>
          </a:bodyPr>
          <a:lstStyle/>
          <a:p>
            <a:pPr marL="474981" lvl="1" indent="-237491" algn="l">
              <a:lnSpc>
                <a:spcPts val="3080"/>
              </a:lnSpc>
              <a:buFont typeface="Arial"/>
              <a:buChar char="•"/>
            </a:pPr>
            <a:r>
              <a:rPr lang="en-US" sz="2200" spc="440">
                <a:solidFill>
                  <a:srgbClr val="000000"/>
                </a:solidFill>
                <a:latin typeface="Inter"/>
                <a:ea typeface="Inter"/>
                <a:cs typeface="Inter"/>
                <a:sym typeface="Inter"/>
              </a:rPr>
              <a:t>Gesture-to-Speech Glove: Captures sign language gestures using flex sensors, hall effect sensors, magnets, and an IMU. Embedded AI on the ESP32-S3 microcontroller interprets gestures and outputs spoken words via a speaker.</a:t>
            </a:r>
          </a:p>
          <a:p>
            <a:pPr marL="474981" lvl="1" indent="-237491" algn="l">
              <a:lnSpc>
                <a:spcPts val="3080"/>
              </a:lnSpc>
              <a:buFont typeface="Arial"/>
              <a:buChar char="•"/>
            </a:pPr>
            <a:r>
              <a:rPr lang="en-US" sz="2200" spc="440">
                <a:solidFill>
                  <a:srgbClr val="000000"/>
                </a:solidFill>
                <a:latin typeface="Inter"/>
                <a:ea typeface="Inter"/>
                <a:cs typeface="Inter"/>
                <a:sym typeface="Inter"/>
              </a:rPr>
              <a:t>Speech-to-Haptic Wristband: Receives spoken words via a microphone, converts speech into Morse code, and delivers tactile feedback using a haptic motor. This enables deaf-mute users to receive messages without relying on audio.</a:t>
            </a:r>
          </a:p>
          <a:p>
            <a:pPr algn="l">
              <a:lnSpc>
                <a:spcPts val="3080"/>
              </a:lnSpc>
            </a:pPr>
            <a:endParaRPr lang="en-US" sz="2200" spc="440">
              <a:solidFill>
                <a:srgbClr val="000000"/>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7FF"/>
        </a:solidFill>
        <a:effectLst/>
      </p:bgPr>
    </p:bg>
    <p:spTree>
      <p:nvGrpSpPr>
        <p:cNvPr id="1" name=""/>
        <p:cNvGrpSpPr/>
        <p:nvPr/>
      </p:nvGrpSpPr>
      <p:grpSpPr>
        <a:xfrm>
          <a:off x="0" y="0"/>
          <a:ext cx="0" cy="0"/>
          <a:chOff x="0" y="0"/>
          <a:chExt cx="0" cy="0"/>
        </a:xfrm>
      </p:grpSpPr>
      <p:sp>
        <p:nvSpPr>
          <p:cNvPr id="2" name="Freeform 2"/>
          <p:cNvSpPr/>
          <p:nvPr/>
        </p:nvSpPr>
        <p:spPr>
          <a:xfrm rot="1836431">
            <a:off x="9510507" y="-2948369"/>
            <a:ext cx="14151252" cy="6839772"/>
          </a:xfrm>
          <a:custGeom>
            <a:avLst/>
            <a:gdLst/>
            <a:ahLst/>
            <a:cxnLst/>
            <a:rect l="l" t="t" r="r" b="b"/>
            <a:pathLst>
              <a:path w="14151252" h="6839772">
                <a:moveTo>
                  <a:pt x="0" y="0"/>
                </a:moveTo>
                <a:lnTo>
                  <a:pt x="14151251" y="0"/>
                </a:lnTo>
                <a:lnTo>
                  <a:pt x="14151251" y="6839772"/>
                </a:lnTo>
                <a:lnTo>
                  <a:pt x="0" y="68397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4056271"/>
            <a:ext cx="18288000" cy="6230729"/>
            <a:chOff x="0" y="0"/>
            <a:chExt cx="2833290" cy="965303"/>
          </a:xfrm>
        </p:grpSpPr>
        <p:sp>
          <p:nvSpPr>
            <p:cNvPr id="4" name="Freeform 4"/>
            <p:cNvSpPr/>
            <p:nvPr/>
          </p:nvSpPr>
          <p:spPr>
            <a:xfrm>
              <a:off x="0" y="0"/>
              <a:ext cx="2833290" cy="965303"/>
            </a:xfrm>
            <a:custGeom>
              <a:avLst/>
              <a:gdLst/>
              <a:ahLst/>
              <a:cxnLst/>
              <a:rect l="l" t="t" r="r" b="b"/>
              <a:pathLst>
                <a:path w="2833290" h="965303">
                  <a:moveTo>
                    <a:pt x="0" y="0"/>
                  </a:moveTo>
                  <a:lnTo>
                    <a:pt x="2833290" y="0"/>
                  </a:lnTo>
                  <a:lnTo>
                    <a:pt x="2833290" y="965303"/>
                  </a:lnTo>
                  <a:lnTo>
                    <a:pt x="0" y="965303"/>
                  </a:lnTo>
                  <a:close/>
                </a:path>
              </a:pathLst>
            </a:custGeom>
            <a:blipFill>
              <a:blip r:embed="rId4"/>
              <a:stretch>
                <a:fillRect t="-15306" b="-15306"/>
              </a:stretch>
            </a:blipFill>
          </p:spPr>
        </p:sp>
      </p:grpSp>
      <p:grpSp>
        <p:nvGrpSpPr>
          <p:cNvPr id="5" name="Group 5"/>
          <p:cNvGrpSpPr/>
          <p:nvPr/>
        </p:nvGrpSpPr>
        <p:grpSpPr>
          <a:xfrm>
            <a:off x="9144000" y="778428"/>
            <a:ext cx="8428173" cy="10503256"/>
            <a:chOff x="0" y="0"/>
            <a:chExt cx="2219766" cy="2766290"/>
          </a:xfrm>
        </p:grpSpPr>
        <p:sp>
          <p:nvSpPr>
            <p:cNvPr id="6" name="Freeform 6"/>
            <p:cNvSpPr/>
            <p:nvPr/>
          </p:nvSpPr>
          <p:spPr>
            <a:xfrm>
              <a:off x="0" y="0"/>
              <a:ext cx="2219766" cy="2766290"/>
            </a:xfrm>
            <a:custGeom>
              <a:avLst/>
              <a:gdLst/>
              <a:ahLst/>
              <a:cxnLst/>
              <a:rect l="l" t="t" r="r" b="b"/>
              <a:pathLst>
                <a:path w="2219766" h="2766290">
                  <a:moveTo>
                    <a:pt x="46847" y="0"/>
                  </a:moveTo>
                  <a:lnTo>
                    <a:pt x="2172918" y="0"/>
                  </a:lnTo>
                  <a:cubicBezTo>
                    <a:pt x="2198791" y="0"/>
                    <a:pt x="2219766" y="20974"/>
                    <a:pt x="2219766" y="46847"/>
                  </a:cubicBezTo>
                  <a:lnTo>
                    <a:pt x="2219766" y="2719442"/>
                  </a:lnTo>
                  <a:cubicBezTo>
                    <a:pt x="2219766" y="2745315"/>
                    <a:pt x="2198791" y="2766290"/>
                    <a:pt x="2172918" y="2766290"/>
                  </a:cubicBezTo>
                  <a:lnTo>
                    <a:pt x="46847" y="2766290"/>
                  </a:lnTo>
                  <a:cubicBezTo>
                    <a:pt x="20974" y="2766290"/>
                    <a:pt x="0" y="2745315"/>
                    <a:pt x="0" y="2719442"/>
                  </a:cubicBezTo>
                  <a:lnTo>
                    <a:pt x="0" y="46847"/>
                  </a:lnTo>
                  <a:cubicBezTo>
                    <a:pt x="0" y="20974"/>
                    <a:pt x="20974" y="0"/>
                    <a:pt x="46847" y="0"/>
                  </a:cubicBezTo>
                  <a:close/>
                </a:path>
              </a:pathLst>
            </a:custGeom>
            <a:solidFill>
              <a:srgbClr val="10316B"/>
            </a:solidFill>
          </p:spPr>
        </p:sp>
        <p:sp>
          <p:nvSpPr>
            <p:cNvPr id="7" name="TextBox 7"/>
            <p:cNvSpPr txBox="1"/>
            <p:nvPr/>
          </p:nvSpPr>
          <p:spPr>
            <a:xfrm>
              <a:off x="0" y="-57150"/>
              <a:ext cx="2219766" cy="2823440"/>
            </a:xfrm>
            <a:prstGeom prst="rect">
              <a:avLst/>
            </a:prstGeom>
          </p:spPr>
          <p:txBody>
            <a:bodyPr lIns="50800" tIns="50800" rIns="50800" bIns="50800" rtlCol="0" anchor="ctr"/>
            <a:lstStyle/>
            <a:p>
              <a:pPr algn="ctr">
                <a:lnSpc>
                  <a:spcPts val="3511"/>
                </a:lnSpc>
              </a:pPr>
              <a:endParaRPr/>
            </a:p>
          </p:txBody>
        </p:sp>
      </p:grpSp>
      <p:sp>
        <p:nvSpPr>
          <p:cNvPr id="8" name="TextBox 8"/>
          <p:cNvSpPr txBox="1"/>
          <p:nvPr/>
        </p:nvSpPr>
        <p:spPr>
          <a:xfrm>
            <a:off x="715827" y="835578"/>
            <a:ext cx="8039236" cy="2946400"/>
          </a:xfrm>
          <a:prstGeom prst="rect">
            <a:avLst/>
          </a:prstGeom>
        </p:spPr>
        <p:txBody>
          <a:bodyPr lIns="0" tIns="0" rIns="0" bIns="0" rtlCol="0" anchor="t">
            <a:spAutoFit/>
          </a:bodyPr>
          <a:lstStyle/>
          <a:p>
            <a:pPr marL="0" lvl="0" indent="0" algn="l">
              <a:lnSpc>
                <a:spcPts val="7699"/>
              </a:lnSpc>
            </a:pPr>
            <a:r>
              <a:rPr lang="en-US" sz="6999" spc="349">
                <a:solidFill>
                  <a:srgbClr val="10316B"/>
                </a:solidFill>
                <a:latin typeface="Archivo Black"/>
                <a:ea typeface="Archivo Black"/>
                <a:cs typeface="Archivo Black"/>
                <a:sym typeface="Archivo Black"/>
              </a:rPr>
              <a:t>ROAD MAP OF OPERATION MANAGEMENT</a:t>
            </a:r>
          </a:p>
        </p:txBody>
      </p:sp>
      <p:sp>
        <p:nvSpPr>
          <p:cNvPr id="9" name="TextBox 9"/>
          <p:cNvSpPr txBox="1"/>
          <p:nvPr/>
        </p:nvSpPr>
        <p:spPr>
          <a:xfrm>
            <a:off x="9629995" y="1893824"/>
            <a:ext cx="7456182" cy="989965"/>
          </a:xfrm>
          <a:prstGeom prst="rect">
            <a:avLst/>
          </a:prstGeom>
        </p:spPr>
        <p:txBody>
          <a:bodyPr lIns="0" tIns="0" rIns="0" bIns="0" rtlCol="0" anchor="t">
            <a:spAutoFit/>
          </a:bodyPr>
          <a:lstStyle/>
          <a:p>
            <a:pPr algn="l">
              <a:lnSpc>
                <a:spcPts val="2660"/>
              </a:lnSpc>
            </a:pPr>
            <a:r>
              <a:rPr lang="en-US" sz="1900" spc="380">
                <a:solidFill>
                  <a:srgbClr val="F2F7FF"/>
                </a:solidFill>
                <a:latin typeface="Inter"/>
                <a:ea typeface="Inter"/>
                <a:cs typeface="Inter"/>
                <a:sym typeface="Inter"/>
              </a:rPr>
              <a:t>Understand and define operational goals, processes, and performance metrics to establish a clear direction and purpose.</a:t>
            </a:r>
          </a:p>
        </p:txBody>
      </p:sp>
      <p:sp>
        <p:nvSpPr>
          <p:cNvPr id="10" name="TextBox 10"/>
          <p:cNvSpPr txBox="1"/>
          <p:nvPr/>
        </p:nvSpPr>
        <p:spPr>
          <a:xfrm>
            <a:off x="9629995" y="3722198"/>
            <a:ext cx="7456182" cy="1323340"/>
          </a:xfrm>
          <a:prstGeom prst="rect">
            <a:avLst/>
          </a:prstGeom>
        </p:spPr>
        <p:txBody>
          <a:bodyPr lIns="0" tIns="0" rIns="0" bIns="0" rtlCol="0" anchor="t">
            <a:spAutoFit/>
          </a:bodyPr>
          <a:lstStyle/>
          <a:p>
            <a:pPr algn="l">
              <a:lnSpc>
                <a:spcPts val="2660"/>
              </a:lnSpc>
            </a:pPr>
            <a:r>
              <a:rPr lang="en-US" sz="1900" spc="380">
                <a:solidFill>
                  <a:srgbClr val="F2F7FF"/>
                </a:solidFill>
                <a:latin typeface="Inter"/>
                <a:ea typeface="Inter"/>
                <a:cs typeface="Inter"/>
                <a:sym typeface="Inter"/>
              </a:rPr>
              <a:t>Conduct in-depth analysis of current operations, identify strengths, weaknesses, opportunities, and threats (SWOT analysis), and gather data to inform decision-making.</a:t>
            </a:r>
          </a:p>
        </p:txBody>
      </p:sp>
      <p:sp>
        <p:nvSpPr>
          <p:cNvPr id="11" name="TextBox 11"/>
          <p:cNvSpPr txBox="1"/>
          <p:nvPr/>
        </p:nvSpPr>
        <p:spPr>
          <a:xfrm>
            <a:off x="9629995" y="1352542"/>
            <a:ext cx="7456182" cy="448309"/>
          </a:xfrm>
          <a:prstGeom prst="rect">
            <a:avLst/>
          </a:prstGeom>
        </p:spPr>
        <p:txBody>
          <a:bodyPr lIns="0" tIns="0" rIns="0" bIns="0" rtlCol="0" anchor="t">
            <a:spAutoFit/>
          </a:bodyPr>
          <a:lstStyle/>
          <a:p>
            <a:pPr marL="0" lvl="0" indent="0" algn="l">
              <a:lnSpc>
                <a:spcPts val="3640"/>
              </a:lnSpc>
            </a:pPr>
            <a:r>
              <a:rPr lang="en-US" sz="2600" b="1" spc="260">
                <a:solidFill>
                  <a:srgbClr val="F2F7FF"/>
                </a:solidFill>
                <a:latin typeface="Roboto Bold"/>
                <a:ea typeface="Roboto Bold"/>
                <a:cs typeface="Roboto Bold"/>
                <a:sym typeface="Roboto Bold"/>
              </a:rPr>
              <a:t>DEFINE</a:t>
            </a:r>
          </a:p>
        </p:txBody>
      </p:sp>
      <p:sp>
        <p:nvSpPr>
          <p:cNvPr id="12" name="TextBox 12"/>
          <p:cNvSpPr txBox="1"/>
          <p:nvPr/>
        </p:nvSpPr>
        <p:spPr>
          <a:xfrm>
            <a:off x="9629995" y="3180915"/>
            <a:ext cx="7456182" cy="448309"/>
          </a:xfrm>
          <a:prstGeom prst="rect">
            <a:avLst/>
          </a:prstGeom>
        </p:spPr>
        <p:txBody>
          <a:bodyPr lIns="0" tIns="0" rIns="0" bIns="0" rtlCol="0" anchor="t">
            <a:spAutoFit/>
          </a:bodyPr>
          <a:lstStyle/>
          <a:p>
            <a:pPr marL="0" lvl="0" indent="0" algn="l">
              <a:lnSpc>
                <a:spcPts val="3640"/>
              </a:lnSpc>
            </a:pPr>
            <a:r>
              <a:rPr lang="en-US" sz="2600" b="1" spc="260">
                <a:solidFill>
                  <a:srgbClr val="F2F7FF"/>
                </a:solidFill>
                <a:latin typeface="Roboto Bold"/>
                <a:ea typeface="Roboto Bold"/>
                <a:cs typeface="Roboto Bold"/>
                <a:sym typeface="Roboto Bold"/>
              </a:rPr>
              <a:t>ANALYSIS</a:t>
            </a:r>
          </a:p>
        </p:txBody>
      </p:sp>
      <p:sp>
        <p:nvSpPr>
          <p:cNvPr id="13" name="TextBox 13"/>
          <p:cNvSpPr txBox="1"/>
          <p:nvPr/>
        </p:nvSpPr>
        <p:spPr>
          <a:xfrm>
            <a:off x="9629995" y="5883946"/>
            <a:ext cx="7456182" cy="1323340"/>
          </a:xfrm>
          <a:prstGeom prst="rect">
            <a:avLst/>
          </a:prstGeom>
        </p:spPr>
        <p:txBody>
          <a:bodyPr lIns="0" tIns="0" rIns="0" bIns="0" rtlCol="0" anchor="t">
            <a:spAutoFit/>
          </a:bodyPr>
          <a:lstStyle/>
          <a:p>
            <a:pPr algn="l">
              <a:lnSpc>
                <a:spcPts val="2660"/>
              </a:lnSpc>
            </a:pPr>
            <a:r>
              <a:rPr lang="en-US" sz="1900" spc="380">
                <a:solidFill>
                  <a:srgbClr val="F2F7FF"/>
                </a:solidFill>
                <a:latin typeface="Inter"/>
                <a:ea typeface="Inter"/>
                <a:cs typeface="Inter"/>
                <a:sym typeface="Inter"/>
              </a:rPr>
              <a:t>Implement strategies, initiatives, and best practices to optimize processes, enhance efficiency, reduce costs, and improve overall performance.</a:t>
            </a:r>
          </a:p>
        </p:txBody>
      </p:sp>
      <p:sp>
        <p:nvSpPr>
          <p:cNvPr id="14" name="TextBox 14"/>
          <p:cNvSpPr txBox="1"/>
          <p:nvPr/>
        </p:nvSpPr>
        <p:spPr>
          <a:xfrm>
            <a:off x="9629995" y="5342664"/>
            <a:ext cx="7456182" cy="448309"/>
          </a:xfrm>
          <a:prstGeom prst="rect">
            <a:avLst/>
          </a:prstGeom>
        </p:spPr>
        <p:txBody>
          <a:bodyPr lIns="0" tIns="0" rIns="0" bIns="0" rtlCol="0" anchor="t">
            <a:spAutoFit/>
          </a:bodyPr>
          <a:lstStyle/>
          <a:p>
            <a:pPr marL="0" lvl="0" indent="0" algn="l">
              <a:lnSpc>
                <a:spcPts val="3640"/>
              </a:lnSpc>
            </a:pPr>
            <a:r>
              <a:rPr lang="en-US" sz="2600" b="1" spc="260">
                <a:solidFill>
                  <a:srgbClr val="F2F7FF"/>
                </a:solidFill>
                <a:latin typeface="Roboto Bold"/>
                <a:ea typeface="Roboto Bold"/>
                <a:cs typeface="Roboto Bold"/>
                <a:sym typeface="Roboto Bold"/>
              </a:rPr>
              <a:t>IMPROVEMENT</a:t>
            </a:r>
          </a:p>
        </p:txBody>
      </p:sp>
      <p:sp>
        <p:nvSpPr>
          <p:cNvPr id="15" name="TextBox 15"/>
          <p:cNvSpPr txBox="1"/>
          <p:nvPr/>
        </p:nvSpPr>
        <p:spPr>
          <a:xfrm>
            <a:off x="9629995" y="8043843"/>
            <a:ext cx="7456182" cy="1656715"/>
          </a:xfrm>
          <a:prstGeom prst="rect">
            <a:avLst/>
          </a:prstGeom>
        </p:spPr>
        <p:txBody>
          <a:bodyPr lIns="0" tIns="0" rIns="0" bIns="0" rtlCol="0" anchor="t">
            <a:spAutoFit/>
          </a:bodyPr>
          <a:lstStyle/>
          <a:p>
            <a:pPr algn="l">
              <a:lnSpc>
                <a:spcPts val="2660"/>
              </a:lnSpc>
            </a:pPr>
            <a:r>
              <a:rPr lang="en-US" sz="1900" spc="380">
                <a:solidFill>
                  <a:srgbClr val="F2F7FF"/>
                </a:solidFill>
                <a:latin typeface="Inter"/>
                <a:ea typeface="Inter"/>
                <a:cs typeface="Inter"/>
                <a:sym typeface="Inter"/>
              </a:rPr>
              <a:t>Monitor and control operations by setting standards, implementing quality control measures, and using feedback mechanisms to ensure consistency, quality, and continuous improvement.</a:t>
            </a:r>
          </a:p>
        </p:txBody>
      </p:sp>
      <p:sp>
        <p:nvSpPr>
          <p:cNvPr id="16" name="TextBox 16"/>
          <p:cNvSpPr txBox="1"/>
          <p:nvPr/>
        </p:nvSpPr>
        <p:spPr>
          <a:xfrm>
            <a:off x="9629995" y="7502560"/>
            <a:ext cx="7456182" cy="448309"/>
          </a:xfrm>
          <a:prstGeom prst="rect">
            <a:avLst/>
          </a:prstGeom>
        </p:spPr>
        <p:txBody>
          <a:bodyPr lIns="0" tIns="0" rIns="0" bIns="0" rtlCol="0" anchor="t">
            <a:spAutoFit/>
          </a:bodyPr>
          <a:lstStyle/>
          <a:p>
            <a:pPr marL="0" lvl="0" indent="0" algn="l">
              <a:lnSpc>
                <a:spcPts val="3640"/>
              </a:lnSpc>
            </a:pPr>
            <a:r>
              <a:rPr lang="en-US" sz="2600" b="1" spc="260">
                <a:solidFill>
                  <a:srgbClr val="F2F7FF"/>
                </a:solidFill>
                <a:latin typeface="Roboto Bold"/>
                <a:ea typeface="Roboto Bold"/>
                <a:cs typeface="Roboto Bold"/>
                <a:sym typeface="Roboto Bold"/>
              </a:rPr>
              <a:t>CONTROL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799786" y="1530983"/>
            <a:ext cx="405649" cy="40564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316B"/>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5" name="Group 5"/>
          <p:cNvGrpSpPr/>
          <p:nvPr/>
        </p:nvGrpSpPr>
        <p:grpSpPr>
          <a:xfrm>
            <a:off x="16348310" y="1530983"/>
            <a:ext cx="405649" cy="40564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8" name="Group 8"/>
          <p:cNvGrpSpPr/>
          <p:nvPr/>
        </p:nvGrpSpPr>
        <p:grpSpPr>
          <a:xfrm>
            <a:off x="16896834" y="1530983"/>
            <a:ext cx="405649" cy="40564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E63"/>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sp>
        <p:nvSpPr>
          <p:cNvPr id="11" name="Freeform 11"/>
          <p:cNvSpPr/>
          <p:nvPr/>
        </p:nvSpPr>
        <p:spPr>
          <a:xfrm rot="4615951">
            <a:off x="-4892817" y="2735952"/>
            <a:ext cx="11756667" cy="5682389"/>
          </a:xfrm>
          <a:custGeom>
            <a:avLst/>
            <a:gdLst/>
            <a:ahLst/>
            <a:cxnLst/>
            <a:rect l="l" t="t" r="r" b="b"/>
            <a:pathLst>
              <a:path w="11756667" h="5682389">
                <a:moveTo>
                  <a:pt x="0" y="0"/>
                </a:moveTo>
                <a:lnTo>
                  <a:pt x="11756667" y="0"/>
                </a:lnTo>
                <a:lnTo>
                  <a:pt x="11756667" y="5682389"/>
                </a:lnTo>
                <a:lnTo>
                  <a:pt x="0" y="5682389"/>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1549709" y="2378658"/>
            <a:ext cx="14808294" cy="1999044"/>
            <a:chOff x="0" y="0"/>
            <a:chExt cx="2983164" cy="402712"/>
          </a:xfrm>
        </p:grpSpPr>
        <p:sp>
          <p:nvSpPr>
            <p:cNvPr id="13" name="Freeform 13"/>
            <p:cNvSpPr/>
            <p:nvPr/>
          </p:nvSpPr>
          <p:spPr>
            <a:xfrm>
              <a:off x="0" y="0"/>
              <a:ext cx="2983164" cy="402712"/>
            </a:xfrm>
            <a:custGeom>
              <a:avLst/>
              <a:gdLst/>
              <a:ahLst/>
              <a:cxnLst/>
              <a:rect l="l" t="t" r="r" b="b"/>
              <a:pathLst>
                <a:path w="2983164" h="402712">
                  <a:moveTo>
                    <a:pt x="2779964" y="0"/>
                  </a:moveTo>
                  <a:cubicBezTo>
                    <a:pt x="2892188" y="0"/>
                    <a:pt x="2983164" y="90150"/>
                    <a:pt x="2983164" y="201356"/>
                  </a:cubicBezTo>
                  <a:cubicBezTo>
                    <a:pt x="2983164" y="312562"/>
                    <a:pt x="2892188" y="402712"/>
                    <a:pt x="2779964" y="402712"/>
                  </a:cubicBezTo>
                  <a:lnTo>
                    <a:pt x="203200" y="402712"/>
                  </a:lnTo>
                  <a:cubicBezTo>
                    <a:pt x="90976" y="402712"/>
                    <a:pt x="0" y="312562"/>
                    <a:pt x="0" y="201356"/>
                  </a:cubicBezTo>
                  <a:cubicBezTo>
                    <a:pt x="0" y="90150"/>
                    <a:pt x="90976" y="0"/>
                    <a:pt x="203200" y="0"/>
                  </a:cubicBezTo>
                  <a:close/>
                </a:path>
              </a:pathLst>
            </a:custGeom>
            <a:solidFill>
              <a:srgbClr val="10316B"/>
            </a:solidFill>
            <a:ln cap="sq">
              <a:noFill/>
              <a:prstDash val="solid"/>
              <a:miter/>
            </a:ln>
          </p:spPr>
        </p:sp>
        <p:sp>
          <p:nvSpPr>
            <p:cNvPr id="14" name="TextBox 14"/>
            <p:cNvSpPr txBox="1"/>
            <p:nvPr/>
          </p:nvSpPr>
          <p:spPr>
            <a:xfrm>
              <a:off x="0" y="-57150"/>
              <a:ext cx="2983164" cy="459862"/>
            </a:xfrm>
            <a:prstGeom prst="rect">
              <a:avLst/>
            </a:prstGeom>
          </p:spPr>
          <p:txBody>
            <a:bodyPr lIns="50800" tIns="50800" rIns="50800" bIns="50800" rtlCol="0" anchor="ctr"/>
            <a:lstStyle/>
            <a:p>
              <a:pPr algn="ctr">
                <a:lnSpc>
                  <a:spcPts val="3511"/>
                </a:lnSpc>
              </a:pPr>
              <a:endParaRPr/>
            </a:p>
          </p:txBody>
        </p:sp>
      </p:grpSp>
      <p:grpSp>
        <p:nvGrpSpPr>
          <p:cNvPr id="15" name="Group 15"/>
          <p:cNvGrpSpPr/>
          <p:nvPr/>
        </p:nvGrpSpPr>
        <p:grpSpPr>
          <a:xfrm>
            <a:off x="13435725" y="2378658"/>
            <a:ext cx="2053961" cy="1999044"/>
            <a:chOff x="0" y="0"/>
            <a:chExt cx="406400" cy="395534"/>
          </a:xfrm>
        </p:grpSpPr>
        <p:sp>
          <p:nvSpPr>
            <p:cNvPr id="16" name="Freeform 16"/>
            <p:cNvSpPr/>
            <p:nvPr/>
          </p:nvSpPr>
          <p:spPr>
            <a:xfrm>
              <a:off x="0" y="0"/>
              <a:ext cx="406400" cy="395534"/>
            </a:xfrm>
            <a:custGeom>
              <a:avLst/>
              <a:gdLst/>
              <a:ahLst/>
              <a:cxnLst/>
              <a:rect l="l" t="t" r="r" b="b"/>
              <a:pathLst>
                <a:path w="406400" h="395534">
                  <a:moveTo>
                    <a:pt x="203200" y="0"/>
                  </a:moveTo>
                  <a:cubicBezTo>
                    <a:pt x="315424" y="0"/>
                    <a:pt x="406400" y="88543"/>
                    <a:pt x="406400" y="197767"/>
                  </a:cubicBezTo>
                  <a:cubicBezTo>
                    <a:pt x="406400" y="306991"/>
                    <a:pt x="315424" y="395534"/>
                    <a:pt x="203200" y="395534"/>
                  </a:cubicBezTo>
                  <a:lnTo>
                    <a:pt x="203200" y="395534"/>
                  </a:lnTo>
                  <a:cubicBezTo>
                    <a:pt x="90976" y="395534"/>
                    <a:pt x="0" y="306991"/>
                    <a:pt x="0" y="197767"/>
                  </a:cubicBezTo>
                  <a:cubicBezTo>
                    <a:pt x="0" y="88543"/>
                    <a:pt x="90976" y="0"/>
                    <a:pt x="203200" y="0"/>
                  </a:cubicBezTo>
                  <a:close/>
                </a:path>
              </a:pathLst>
            </a:custGeom>
            <a:solidFill>
              <a:srgbClr val="0B409C"/>
            </a:solidFill>
            <a:ln w="142875" cap="sq">
              <a:solidFill>
                <a:srgbClr val="10316B"/>
              </a:solidFill>
              <a:prstDash val="solid"/>
              <a:miter/>
            </a:ln>
          </p:spPr>
        </p:sp>
        <p:sp>
          <p:nvSpPr>
            <p:cNvPr id="17" name="TextBox 17"/>
            <p:cNvSpPr txBox="1"/>
            <p:nvPr/>
          </p:nvSpPr>
          <p:spPr>
            <a:xfrm>
              <a:off x="0" y="-57150"/>
              <a:ext cx="406400" cy="452684"/>
            </a:xfrm>
            <a:prstGeom prst="rect">
              <a:avLst/>
            </a:prstGeom>
          </p:spPr>
          <p:txBody>
            <a:bodyPr lIns="50800" tIns="50800" rIns="50800" bIns="50800" rtlCol="0" anchor="ctr"/>
            <a:lstStyle/>
            <a:p>
              <a:pPr algn="ctr">
                <a:lnSpc>
                  <a:spcPts val="3511"/>
                </a:lnSpc>
              </a:pPr>
              <a:endParaRPr/>
            </a:p>
          </p:txBody>
        </p:sp>
      </p:grpSp>
      <p:sp>
        <p:nvSpPr>
          <p:cNvPr id="18" name="Freeform 18"/>
          <p:cNvSpPr/>
          <p:nvPr/>
        </p:nvSpPr>
        <p:spPr>
          <a:xfrm>
            <a:off x="13834029" y="2749504"/>
            <a:ext cx="1257352" cy="1257352"/>
          </a:xfrm>
          <a:custGeom>
            <a:avLst/>
            <a:gdLst/>
            <a:ahLst/>
            <a:cxnLst/>
            <a:rect l="l" t="t" r="r" b="b"/>
            <a:pathLst>
              <a:path w="1257352" h="1257352">
                <a:moveTo>
                  <a:pt x="0" y="0"/>
                </a:moveTo>
                <a:lnTo>
                  <a:pt x="1257352" y="0"/>
                </a:lnTo>
                <a:lnTo>
                  <a:pt x="1257352" y="1257352"/>
                </a:lnTo>
                <a:lnTo>
                  <a:pt x="0" y="12573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985517" y="644783"/>
            <a:ext cx="16273783" cy="1003300"/>
          </a:xfrm>
          <a:prstGeom prst="rect">
            <a:avLst/>
          </a:prstGeom>
        </p:spPr>
        <p:txBody>
          <a:bodyPr lIns="0" tIns="0" rIns="0" bIns="0" rtlCol="0" anchor="t">
            <a:spAutoFit/>
          </a:bodyPr>
          <a:lstStyle/>
          <a:p>
            <a:pPr marL="0" lvl="0" indent="0" algn="l">
              <a:lnSpc>
                <a:spcPts val="7699"/>
              </a:lnSpc>
            </a:pPr>
            <a:r>
              <a:rPr lang="en-US" sz="6999" spc="349">
                <a:solidFill>
                  <a:srgbClr val="10316B"/>
                </a:solidFill>
                <a:latin typeface="Archivo Black"/>
                <a:ea typeface="Archivo Black"/>
                <a:cs typeface="Archivo Black"/>
                <a:sym typeface="Archivo Black"/>
              </a:rPr>
              <a:t>VANITRA-HARDWARE DESIGN</a:t>
            </a:r>
          </a:p>
        </p:txBody>
      </p:sp>
      <p:sp>
        <p:nvSpPr>
          <p:cNvPr id="20" name="TextBox 20"/>
          <p:cNvSpPr txBox="1"/>
          <p:nvPr/>
        </p:nvSpPr>
        <p:spPr>
          <a:xfrm>
            <a:off x="1028700" y="3308896"/>
            <a:ext cx="11242047" cy="621030"/>
          </a:xfrm>
          <a:prstGeom prst="rect">
            <a:avLst/>
          </a:prstGeom>
        </p:spPr>
        <p:txBody>
          <a:bodyPr lIns="0" tIns="0" rIns="0" bIns="0" rtlCol="0" anchor="t">
            <a:spAutoFit/>
          </a:bodyPr>
          <a:lstStyle/>
          <a:p>
            <a:pPr algn="l">
              <a:lnSpc>
                <a:spcPts val="2520"/>
              </a:lnSpc>
            </a:pPr>
            <a:r>
              <a:rPr lang="en-US" sz="1800" spc="360">
                <a:solidFill>
                  <a:srgbClr val="F2F7FF"/>
                </a:solidFill>
                <a:latin typeface="Inter"/>
                <a:ea typeface="Inter"/>
                <a:cs typeface="Inter"/>
                <a:sym typeface="Inter"/>
              </a:rPr>
              <a:t>Flex Sensors, Hall Effect Sensors &amp; Magnets, MPU6050 (IMU), ESP32-S3 Microcontroller, Speaker</a:t>
            </a:r>
          </a:p>
        </p:txBody>
      </p:sp>
      <p:sp>
        <p:nvSpPr>
          <p:cNvPr id="21" name="TextBox 21"/>
          <p:cNvSpPr txBox="1"/>
          <p:nvPr/>
        </p:nvSpPr>
        <p:spPr>
          <a:xfrm>
            <a:off x="1028700" y="2750234"/>
            <a:ext cx="11242047" cy="500379"/>
          </a:xfrm>
          <a:prstGeom prst="rect">
            <a:avLst/>
          </a:prstGeom>
        </p:spPr>
        <p:txBody>
          <a:bodyPr lIns="0" tIns="0" rIns="0" bIns="0" rtlCol="0" anchor="t">
            <a:spAutoFit/>
          </a:bodyPr>
          <a:lstStyle/>
          <a:p>
            <a:pPr marL="0" lvl="0" indent="0" algn="l">
              <a:lnSpc>
                <a:spcPts val="3920"/>
              </a:lnSpc>
            </a:pPr>
            <a:r>
              <a:rPr lang="en-US" sz="2800" b="1" spc="280">
                <a:solidFill>
                  <a:srgbClr val="F2F7FF"/>
                </a:solidFill>
                <a:latin typeface="Roboto Bold"/>
                <a:ea typeface="Roboto Bold"/>
                <a:cs typeface="Roboto Bold"/>
                <a:sym typeface="Roboto Bold"/>
              </a:rPr>
              <a:t>COMPONENTS: GLOVE UNIT</a:t>
            </a:r>
          </a:p>
        </p:txBody>
      </p:sp>
      <p:grpSp>
        <p:nvGrpSpPr>
          <p:cNvPr id="22" name="Group 22"/>
          <p:cNvGrpSpPr/>
          <p:nvPr/>
        </p:nvGrpSpPr>
        <p:grpSpPr>
          <a:xfrm>
            <a:off x="1380262" y="6264004"/>
            <a:ext cx="8299735" cy="2792617"/>
            <a:chOff x="0" y="0"/>
            <a:chExt cx="11066313" cy="3723490"/>
          </a:xfrm>
        </p:grpSpPr>
        <p:grpSp>
          <p:nvGrpSpPr>
            <p:cNvPr id="23" name="Group 23"/>
            <p:cNvGrpSpPr/>
            <p:nvPr/>
          </p:nvGrpSpPr>
          <p:grpSpPr>
            <a:xfrm>
              <a:off x="1479896" y="1295735"/>
              <a:ext cx="2173990" cy="757564"/>
              <a:chOff x="0" y="0"/>
              <a:chExt cx="536844" cy="187071"/>
            </a:xfrm>
          </p:grpSpPr>
          <p:sp>
            <p:nvSpPr>
              <p:cNvPr id="24" name="Freeform 24"/>
              <p:cNvSpPr/>
              <p:nvPr/>
            </p:nvSpPr>
            <p:spPr>
              <a:xfrm>
                <a:off x="0" y="0"/>
                <a:ext cx="536844" cy="187071"/>
              </a:xfrm>
              <a:custGeom>
                <a:avLst/>
                <a:gdLst/>
                <a:ahLst/>
                <a:cxnLst/>
                <a:rect l="l" t="t" r="r" b="b"/>
                <a:pathLst>
                  <a:path w="536844" h="187071">
                    <a:moveTo>
                      <a:pt x="536844" y="93536"/>
                    </a:moveTo>
                    <a:lnTo>
                      <a:pt x="536844" y="93536"/>
                    </a:lnTo>
                    <a:cubicBezTo>
                      <a:pt x="536844" y="145194"/>
                      <a:pt x="494967" y="187071"/>
                      <a:pt x="443309" y="187071"/>
                    </a:cubicBezTo>
                    <a:lnTo>
                      <a:pt x="93536" y="187071"/>
                    </a:lnTo>
                    <a:cubicBezTo>
                      <a:pt x="41877" y="187071"/>
                      <a:pt x="0" y="145194"/>
                      <a:pt x="0" y="93536"/>
                    </a:cubicBezTo>
                    <a:lnTo>
                      <a:pt x="0" y="93536"/>
                    </a:lnTo>
                    <a:cubicBezTo>
                      <a:pt x="0" y="41877"/>
                      <a:pt x="41877" y="0"/>
                      <a:pt x="93536" y="0"/>
                    </a:cubicBezTo>
                    <a:lnTo>
                      <a:pt x="443309" y="0"/>
                    </a:lnTo>
                    <a:cubicBezTo>
                      <a:pt x="494967" y="0"/>
                      <a:pt x="536844" y="41877"/>
                      <a:pt x="536844" y="93536"/>
                    </a:cubicBezTo>
                    <a:close/>
                  </a:path>
                </a:pathLst>
              </a:custGeom>
              <a:solidFill>
                <a:srgbClr val="000000">
                  <a:alpha val="0"/>
                </a:srgbClr>
              </a:solidFill>
              <a:ln w="19050" cap="sq">
                <a:solidFill>
                  <a:srgbClr val="000000"/>
                </a:solidFill>
                <a:prstDash val="solid"/>
                <a:miter/>
              </a:ln>
            </p:spPr>
          </p:sp>
          <p:sp>
            <p:nvSpPr>
              <p:cNvPr id="25" name="TextBox 25"/>
              <p:cNvSpPr txBox="1"/>
              <p:nvPr/>
            </p:nvSpPr>
            <p:spPr>
              <a:xfrm>
                <a:off x="0" y="-38100"/>
                <a:ext cx="536844" cy="225171"/>
              </a:xfrm>
              <a:prstGeom prst="rect">
                <a:avLst/>
              </a:prstGeom>
            </p:spPr>
            <p:txBody>
              <a:bodyPr lIns="26707" tIns="26707" rIns="26707" bIns="26707" rtlCol="0" anchor="ctr"/>
              <a:lstStyle/>
              <a:p>
                <a:pPr algn="ctr">
                  <a:lnSpc>
                    <a:spcPts val="2698"/>
                  </a:lnSpc>
                </a:pPr>
                <a:endParaRPr/>
              </a:p>
            </p:txBody>
          </p:sp>
        </p:grpSp>
        <p:sp>
          <p:nvSpPr>
            <p:cNvPr id="26" name="TextBox 26"/>
            <p:cNvSpPr txBox="1"/>
            <p:nvPr/>
          </p:nvSpPr>
          <p:spPr>
            <a:xfrm>
              <a:off x="1645705" y="1432079"/>
              <a:ext cx="1855524" cy="437465"/>
            </a:xfrm>
            <a:prstGeom prst="rect">
              <a:avLst/>
            </a:prstGeom>
          </p:spPr>
          <p:txBody>
            <a:bodyPr lIns="0" tIns="0" rIns="0" bIns="0" rtlCol="0" anchor="t">
              <a:spAutoFit/>
            </a:bodyPr>
            <a:lstStyle/>
            <a:p>
              <a:pPr algn="ctr">
                <a:lnSpc>
                  <a:spcPts val="2743"/>
                </a:lnSpc>
              </a:pPr>
              <a:r>
                <a:rPr lang="en-US" sz="1959" b="1">
                  <a:solidFill>
                    <a:srgbClr val="000000"/>
                  </a:solidFill>
                  <a:latin typeface="Canva Sans Bold"/>
                  <a:ea typeface="Canva Sans Bold"/>
                  <a:cs typeface="Canva Sans Bold"/>
                  <a:sym typeface="Canva Sans Bold"/>
                </a:rPr>
                <a:t>Flex Sensor</a:t>
              </a:r>
            </a:p>
          </p:txBody>
        </p:sp>
        <p:grpSp>
          <p:nvGrpSpPr>
            <p:cNvPr id="27" name="Group 27"/>
            <p:cNvGrpSpPr/>
            <p:nvPr/>
          </p:nvGrpSpPr>
          <p:grpSpPr>
            <a:xfrm>
              <a:off x="1479896" y="2571367"/>
              <a:ext cx="2173990" cy="1152123"/>
              <a:chOff x="0" y="0"/>
              <a:chExt cx="536844" cy="284502"/>
            </a:xfrm>
          </p:grpSpPr>
          <p:sp>
            <p:nvSpPr>
              <p:cNvPr id="28" name="Freeform 28"/>
              <p:cNvSpPr/>
              <p:nvPr/>
            </p:nvSpPr>
            <p:spPr>
              <a:xfrm>
                <a:off x="0" y="0"/>
                <a:ext cx="536844" cy="284502"/>
              </a:xfrm>
              <a:custGeom>
                <a:avLst/>
                <a:gdLst/>
                <a:ahLst/>
                <a:cxnLst/>
                <a:rect l="l" t="t" r="r" b="b"/>
                <a:pathLst>
                  <a:path w="536844" h="284502">
                    <a:moveTo>
                      <a:pt x="536844" y="142251"/>
                    </a:moveTo>
                    <a:lnTo>
                      <a:pt x="536844" y="142251"/>
                    </a:lnTo>
                    <a:cubicBezTo>
                      <a:pt x="536844" y="179978"/>
                      <a:pt x="521857" y="216161"/>
                      <a:pt x="495180" y="242838"/>
                    </a:cubicBezTo>
                    <a:cubicBezTo>
                      <a:pt x="468502" y="269515"/>
                      <a:pt x="432320" y="284502"/>
                      <a:pt x="394593" y="284502"/>
                    </a:cubicBezTo>
                    <a:lnTo>
                      <a:pt x="142251" y="284502"/>
                    </a:lnTo>
                    <a:cubicBezTo>
                      <a:pt x="63688" y="284502"/>
                      <a:pt x="0" y="220814"/>
                      <a:pt x="0" y="142251"/>
                    </a:cubicBezTo>
                    <a:lnTo>
                      <a:pt x="0" y="142251"/>
                    </a:lnTo>
                    <a:cubicBezTo>
                      <a:pt x="0" y="63688"/>
                      <a:pt x="63688" y="0"/>
                      <a:pt x="142251" y="0"/>
                    </a:cubicBezTo>
                    <a:lnTo>
                      <a:pt x="394593" y="0"/>
                    </a:lnTo>
                    <a:cubicBezTo>
                      <a:pt x="473156" y="0"/>
                      <a:pt x="536844" y="63688"/>
                      <a:pt x="536844" y="142251"/>
                    </a:cubicBezTo>
                    <a:close/>
                  </a:path>
                </a:pathLst>
              </a:custGeom>
              <a:solidFill>
                <a:srgbClr val="000000">
                  <a:alpha val="0"/>
                </a:srgbClr>
              </a:solidFill>
              <a:ln w="19050" cap="sq">
                <a:solidFill>
                  <a:srgbClr val="000000"/>
                </a:solidFill>
                <a:prstDash val="solid"/>
                <a:miter/>
              </a:ln>
            </p:spPr>
          </p:sp>
          <p:sp>
            <p:nvSpPr>
              <p:cNvPr id="29" name="TextBox 29"/>
              <p:cNvSpPr txBox="1"/>
              <p:nvPr/>
            </p:nvSpPr>
            <p:spPr>
              <a:xfrm>
                <a:off x="0" y="-38100"/>
                <a:ext cx="536844" cy="322602"/>
              </a:xfrm>
              <a:prstGeom prst="rect">
                <a:avLst/>
              </a:prstGeom>
            </p:spPr>
            <p:txBody>
              <a:bodyPr lIns="26707" tIns="26707" rIns="26707" bIns="26707" rtlCol="0" anchor="ctr"/>
              <a:lstStyle/>
              <a:p>
                <a:pPr algn="ctr">
                  <a:lnSpc>
                    <a:spcPts val="2698"/>
                  </a:lnSpc>
                </a:pPr>
                <a:endParaRPr/>
              </a:p>
            </p:txBody>
          </p:sp>
        </p:grpSp>
        <p:sp>
          <p:nvSpPr>
            <p:cNvPr id="30" name="TextBox 30"/>
            <p:cNvSpPr txBox="1"/>
            <p:nvPr/>
          </p:nvSpPr>
          <p:spPr>
            <a:xfrm>
              <a:off x="1676995" y="2707711"/>
              <a:ext cx="1792945" cy="893662"/>
            </a:xfrm>
            <a:prstGeom prst="rect">
              <a:avLst/>
            </a:prstGeom>
          </p:spPr>
          <p:txBody>
            <a:bodyPr lIns="0" tIns="0" rIns="0" bIns="0" rtlCol="0" anchor="t">
              <a:spAutoFit/>
            </a:bodyPr>
            <a:lstStyle/>
            <a:p>
              <a:pPr algn="ctr">
                <a:lnSpc>
                  <a:spcPts val="2743"/>
                </a:lnSpc>
              </a:pPr>
              <a:r>
                <a:rPr lang="en-US" sz="1959" b="1">
                  <a:solidFill>
                    <a:srgbClr val="000000"/>
                  </a:solidFill>
                  <a:latin typeface="Canva Sans Bold"/>
                  <a:ea typeface="Canva Sans Bold"/>
                  <a:cs typeface="Canva Sans Bold"/>
                  <a:sym typeface="Canva Sans Bold"/>
                </a:rPr>
                <a:t>Hall Effect </a:t>
              </a:r>
            </a:p>
            <a:p>
              <a:pPr algn="ctr">
                <a:lnSpc>
                  <a:spcPts val="2743"/>
                </a:lnSpc>
              </a:pPr>
              <a:r>
                <a:rPr lang="en-US" sz="1959" b="1">
                  <a:solidFill>
                    <a:srgbClr val="000000"/>
                  </a:solidFill>
                  <a:latin typeface="Canva Sans Bold"/>
                  <a:ea typeface="Canva Sans Bold"/>
                  <a:cs typeface="Canva Sans Bold"/>
                  <a:sym typeface="Canva Sans Bold"/>
                </a:rPr>
                <a:t>Sensor</a:t>
              </a:r>
            </a:p>
          </p:txBody>
        </p:sp>
        <p:sp>
          <p:nvSpPr>
            <p:cNvPr id="31" name="TextBox 31"/>
            <p:cNvSpPr txBox="1"/>
            <p:nvPr/>
          </p:nvSpPr>
          <p:spPr>
            <a:xfrm>
              <a:off x="4975310" y="1432079"/>
              <a:ext cx="1560402" cy="437465"/>
            </a:xfrm>
            <a:prstGeom prst="rect">
              <a:avLst/>
            </a:prstGeom>
          </p:spPr>
          <p:txBody>
            <a:bodyPr lIns="0" tIns="0" rIns="0" bIns="0" rtlCol="0" anchor="t">
              <a:spAutoFit/>
            </a:bodyPr>
            <a:lstStyle/>
            <a:p>
              <a:pPr algn="ctr">
                <a:lnSpc>
                  <a:spcPts val="2743"/>
                </a:lnSpc>
              </a:pPr>
              <a:r>
                <a:rPr lang="en-US" sz="1959" b="1">
                  <a:solidFill>
                    <a:srgbClr val="000000"/>
                  </a:solidFill>
                  <a:latin typeface="Canva Sans Bold"/>
                  <a:ea typeface="Canva Sans Bold"/>
                  <a:cs typeface="Canva Sans Bold"/>
                  <a:sym typeface="Canva Sans Bold"/>
                </a:rPr>
                <a:t>ESP 32 S3</a:t>
              </a:r>
            </a:p>
          </p:txBody>
        </p:sp>
        <p:sp>
          <p:nvSpPr>
            <p:cNvPr id="32" name="TextBox 32"/>
            <p:cNvSpPr txBox="1"/>
            <p:nvPr/>
          </p:nvSpPr>
          <p:spPr>
            <a:xfrm>
              <a:off x="8502686" y="1432079"/>
              <a:ext cx="1311197" cy="437465"/>
            </a:xfrm>
            <a:prstGeom prst="rect">
              <a:avLst/>
            </a:prstGeom>
          </p:spPr>
          <p:txBody>
            <a:bodyPr lIns="0" tIns="0" rIns="0" bIns="0" rtlCol="0" anchor="t">
              <a:spAutoFit/>
            </a:bodyPr>
            <a:lstStyle/>
            <a:p>
              <a:pPr algn="ctr">
                <a:lnSpc>
                  <a:spcPts val="2743"/>
                </a:lnSpc>
              </a:pPr>
              <a:r>
                <a:rPr lang="en-US" sz="1959" b="1">
                  <a:solidFill>
                    <a:srgbClr val="000000"/>
                  </a:solidFill>
                  <a:latin typeface="Canva Sans Bold"/>
                  <a:ea typeface="Canva Sans Bold"/>
                  <a:cs typeface="Canva Sans Bold"/>
                  <a:sym typeface="Canva Sans Bold"/>
                </a:rPr>
                <a:t>Speaker</a:t>
              </a:r>
            </a:p>
          </p:txBody>
        </p:sp>
        <p:sp>
          <p:nvSpPr>
            <p:cNvPr id="33" name="AutoShape 33"/>
            <p:cNvSpPr/>
            <p:nvPr/>
          </p:nvSpPr>
          <p:spPr>
            <a:xfrm>
              <a:off x="3653886" y="3133605"/>
              <a:ext cx="456106" cy="0"/>
            </a:xfrm>
            <a:prstGeom prst="line">
              <a:avLst/>
            </a:prstGeom>
            <a:ln w="26295" cap="flat">
              <a:solidFill>
                <a:srgbClr val="000000"/>
              </a:solidFill>
              <a:prstDash val="solid"/>
              <a:headEnd type="none" w="sm" len="sm"/>
              <a:tailEnd type="none" w="sm" len="sm"/>
            </a:ln>
          </p:spPr>
        </p:sp>
        <p:grpSp>
          <p:nvGrpSpPr>
            <p:cNvPr id="34" name="Group 34"/>
            <p:cNvGrpSpPr/>
            <p:nvPr/>
          </p:nvGrpSpPr>
          <p:grpSpPr>
            <a:xfrm>
              <a:off x="1479896" y="0"/>
              <a:ext cx="2173990" cy="757564"/>
              <a:chOff x="0" y="0"/>
              <a:chExt cx="536844" cy="187071"/>
            </a:xfrm>
          </p:grpSpPr>
          <p:sp>
            <p:nvSpPr>
              <p:cNvPr id="35" name="Freeform 35"/>
              <p:cNvSpPr/>
              <p:nvPr/>
            </p:nvSpPr>
            <p:spPr>
              <a:xfrm>
                <a:off x="0" y="0"/>
                <a:ext cx="536844" cy="187071"/>
              </a:xfrm>
              <a:custGeom>
                <a:avLst/>
                <a:gdLst/>
                <a:ahLst/>
                <a:cxnLst/>
                <a:rect l="l" t="t" r="r" b="b"/>
                <a:pathLst>
                  <a:path w="536844" h="187071">
                    <a:moveTo>
                      <a:pt x="536844" y="93536"/>
                    </a:moveTo>
                    <a:lnTo>
                      <a:pt x="536844" y="93536"/>
                    </a:lnTo>
                    <a:cubicBezTo>
                      <a:pt x="536844" y="145194"/>
                      <a:pt x="494967" y="187071"/>
                      <a:pt x="443309" y="187071"/>
                    </a:cubicBezTo>
                    <a:lnTo>
                      <a:pt x="93536" y="187071"/>
                    </a:lnTo>
                    <a:cubicBezTo>
                      <a:pt x="41877" y="187071"/>
                      <a:pt x="0" y="145194"/>
                      <a:pt x="0" y="93536"/>
                    </a:cubicBezTo>
                    <a:lnTo>
                      <a:pt x="0" y="93536"/>
                    </a:lnTo>
                    <a:cubicBezTo>
                      <a:pt x="0" y="41877"/>
                      <a:pt x="41877" y="0"/>
                      <a:pt x="93536" y="0"/>
                    </a:cubicBezTo>
                    <a:lnTo>
                      <a:pt x="443309" y="0"/>
                    </a:lnTo>
                    <a:cubicBezTo>
                      <a:pt x="494967" y="0"/>
                      <a:pt x="536844" y="41877"/>
                      <a:pt x="536844" y="93536"/>
                    </a:cubicBezTo>
                    <a:close/>
                  </a:path>
                </a:pathLst>
              </a:custGeom>
              <a:solidFill>
                <a:srgbClr val="000000">
                  <a:alpha val="0"/>
                </a:srgbClr>
              </a:solidFill>
              <a:ln w="19050" cap="sq">
                <a:solidFill>
                  <a:srgbClr val="000000"/>
                </a:solidFill>
                <a:prstDash val="solid"/>
                <a:miter/>
              </a:ln>
            </p:spPr>
          </p:sp>
          <p:sp>
            <p:nvSpPr>
              <p:cNvPr id="36" name="TextBox 36"/>
              <p:cNvSpPr txBox="1"/>
              <p:nvPr/>
            </p:nvSpPr>
            <p:spPr>
              <a:xfrm>
                <a:off x="0" y="-38100"/>
                <a:ext cx="536844" cy="225171"/>
              </a:xfrm>
              <a:prstGeom prst="rect">
                <a:avLst/>
              </a:prstGeom>
            </p:spPr>
            <p:txBody>
              <a:bodyPr lIns="26707" tIns="26707" rIns="26707" bIns="26707" rtlCol="0" anchor="ctr"/>
              <a:lstStyle/>
              <a:p>
                <a:pPr algn="ctr">
                  <a:lnSpc>
                    <a:spcPts val="2698"/>
                  </a:lnSpc>
                </a:pPr>
                <a:endParaRPr/>
              </a:p>
            </p:txBody>
          </p:sp>
        </p:grpSp>
        <p:sp>
          <p:nvSpPr>
            <p:cNvPr id="37" name="TextBox 37"/>
            <p:cNvSpPr txBox="1"/>
            <p:nvPr/>
          </p:nvSpPr>
          <p:spPr>
            <a:xfrm>
              <a:off x="1645705" y="163021"/>
              <a:ext cx="1855524" cy="437465"/>
            </a:xfrm>
            <a:prstGeom prst="rect">
              <a:avLst/>
            </a:prstGeom>
          </p:spPr>
          <p:txBody>
            <a:bodyPr lIns="0" tIns="0" rIns="0" bIns="0" rtlCol="0" anchor="t">
              <a:spAutoFit/>
            </a:bodyPr>
            <a:lstStyle/>
            <a:p>
              <a:pPr algn="ctr">
                <a:lnSpc>
                  <a:spcPts val="2743"/>
                </a:lnSpc>
              </a:pPr>
              <a:r>
                <a:rPr lang="en-US" sz="1959" b="1">
                  <a:solidFill>
                    <a:srgbClr val="000000"/>
                  </a:solidFill>
                  <a:latin typeface="Canva Sans Bold"/>
                  <a:ea typeface="Canva Sans Bold"/>
                  <a:cs typeface="Canva Sans Bold"/>
                  <a:sym typeface="Canva Sans Bold"/>
                </a:rPr>
                <a:t>MPU 6050</a:t>
              </a:r>
            </a:p>
          </p:txBody>
        </p:sp>
        <p:grpSp>
          <p:nvGrpSpPr>
            <p:cNvPr id="38" name="Group 38"/>
            <p:cNvGrpSpPr/>
            <p:nvPr/>
          </p:nvGrpSpPr>
          <p:grpSpPr>
            <a:xfrm>
              <a:off x="4671149" y="1295735"/>
              <a:ext cx="2173990" cy="757564"/>
              <a:chOff x="0" y="0"/>
              <a:chExt cx="536844" cy="187071"/>
            </a:xfrm>
          </p:grpSpPr>
          <p:sp>
            <p:nvSpPr>
              <p:cNvPr id="39" name="Freeform 39"/>
              <p:cNvSpPr/>
              <p:nvPr/>
            </p:nvSpPr>
            <p:spPr>
              <a:xfrm>
                <a:off x="0" y="0"/>
                <a:ext cx="536844" cy="187071"/>
              </a:xfrm>
              <a:custGeom>
                <a:avLst/>
                <a:gdLst/>
                <a:ahLst/>
                <a:cxnLst/>
                <a:rect l="l" t="t" r="r" b="b"/>
                <a:pathLst>
                  <a:path w="536844" h="187071">
                    <a:moveTo>
                      <a:pt x="536844" y="93536"/>
                    </a:moveTo>
                    <a:lnTo>
                      <a:pt x="536844" y="93536"/>
                    </a:lnTo>
                    <a:cubicBezTo>
                      <a:pt x="536844" y="145194"/>
                      <a:pt x="494967" y="187071"/>
                      <a:pt x="443309" y="187071"/>
                    </a:cubicBezTo>
                    <a:lnTo>
                      <a:pt x="93536" y="187071"/>
                    </a:lnTo>
                    <a:cubicBezTo>
                      <a:pt x="41877" y="187071"/>
                      <a:pt x="0" y="145194"/>
                      <a:pt x="0" y="93536"/>
                    </a:cubicBezTo>
                    <a:lnTo>
                      <a:pt x="0" y="93536"/>
                    </a:lnTo>
                    <a:cubicBezTo>
                      <a:pt x="0" y="41877"/>
                      <a:pt x="41877" y="0"/>
                      <a:pt x="93536" y="0"/>
                    </a:cubicBezTo>
                    <a:lnTo>
                      <a:pt x="443309" y="0"/>
                    </a:lnTo>
                    <a:cubicBezTo>
                      <a:pt x="494967" y="0"/>
                      <a:pt x="536844" y="41877"/>
                      <a:pt x="536844" y="93536"/>
                    </a:cubicBezTo>
                    <a:close/>
                  </a:path>
                </a:pathLst>
              </a:custGeom>
              <a:solidFill>
                <a:srgbClr val="000000">
                  <a:alpha val="0"/>
                </a:srgbClr>
              </a:solidFill>
              <a:ln w="19050" cap="sq">
                <a:solidFill>
                  <a:srgbClr val="000000"/>
                </a:solidFill>
                <a:prstDash val="solid"/>
                <a:miter/>
              </a:ln>
            </p:spPr>
          </p:sp>
          <p:sp>
            <p:nvSpPr>
              <p:cNvPr id="40" name="TextBox 40"/>
              <p:cNvSpPr txBox="1"/>
              <p:nvPr/>
            </p:nvSpPr>
            <p:spPr>
              <a:xfrm>
                <a:off x="0" y="-38100"/>
                <a:ext cx="536844" cy="225171"/>
              </a:xfrm>
              <a:prstGeom prst="rect">
                <a:avLst/>
              </a:prstGeom>
            </p:spPr>
            <p:txBody>
              <a:bodyPr lIns="26707" tIns="26707" rIns="26707" bIns="26707" rtlCol="0" anchor="ctr"/>
              <a:lstStyle/>
              <a:p>
                <a:pPr algn="ctr">
                  <a:lnSpc>
                    <a:spcPts val="2698"/>
                  </a:lnSpc>
                </a:pPr>
                <a:endParaRPr/>
              </a:p>
            </p:txBody>
          </p:sp>
        </p:grpSp>
        <p:sp>
          <p:nvSpPr>
            <p:cNvPr id="41" name="AutoShape 41"/>
            <p:cNvSpPr/>
            <p:nvPr/>
          </p:nvSpPr>
          <p:spPr>
            <a:xfrm>
              <a:off x="3653886" y="1674517"/>
              <a:ext cx="1017263" cy="0"/>
            </a:xfrm>
            <a:prstGeom prst="line">
              <a:avLst/>
            </a:prstGeom>
            <a:ln w="52590" cap="flat">
              <a:solidFill>
                <a:srgbClr val="000000"/>
              </a:solidFill>
              <a:prstDash val="solid"/>
              <a:headEnd type="none" w="sm" len="sm"/>
              <a:tailEnd type="arrow" w="med" len="sm"/>
            </a:ln>
          </p:spPr>
        </p:sp>
        <p:grpSp>
          <p:nvGrpSpPr>
            <p:cNvPr id="42" name="Group 42"/>
            <p:cNvGrpSpPr/>
            <p:nvPr/>
          </p:nvGrpSpPr>
          <p:grpSpPr>
            <a:xfrm>
              <a:off x="8071289" y="1295735"/>
              <a:ext cx="2173990" cy="757564"/>
              <a:chOff x="0" y="0"/>
              <a:chExt cx="536844" cy="187071"/>
            </a:xfrm>
          </p:grpSpPr>
          <p:sp>
            <p:nvSpPr>
              <p:cNvPr id="43" name="Freeform 43"/>
              <p:cNvSpPr/>
              <p:nvPr/>
            </p:nvSpPr>
            <p:spPr>
              <a:xfrm>
                <a:off x="0" y="0"/>
                <a:ext cx="536844" cy="187071"/>
              </a:xfrm>
              <a:custGeom>
                <a:avLst/>
                <a:gdLst/>
                <a:ahLst/>
                <a:cxnLst/>
                <a:rect l="l" t="t" r="r" b="b"/>
                <a:pathLst>
                  <a:path w="536844" h="187071">
                    <a:moveTo>
                      <a:pt x="536844" y="93536"/>
                    </a:moveTo>
                    <a:lnTo>
                      <a:pt x="536844" y="93536"/>
                    </a:lnTo>
                    <a:cubicBezTo>
                      <a:pt x="536844" y="145194"/>
                      <a:pt x="494967" y="187071"/>
                      <a:pt x="443309" y="187071"/>
                    </a:cubicBezTo>
                    <a:lnTo>
                      <a:pt x="93536" y="187071"/>
                    </a:lnTo>
                    <a:cubicBezTo>
                      <a:pt x="41877" y="187071"/>
                      <a:pt x="0" y="145194"/>
                      <a:pt x="0" y="93536"/>
                    </a:cubicBezTo>
                    <a:lnTo>
                      <a:pt x="0" y="93536"/>
                    </a:lnTo>
                    <a:cubicBezTo>
                      <a:pt x="0" y="41877"/>
                      <a:pt x="41877" y="0"/>
                      <a:pt x="93536" y="0"/>
                    </a:cubicBezTo>
                    <a:lnTo>
                      <a:pt x="443309" y="0"/>
                    </a:lnTo>
                    <a:cubicBezTo>
                      <a:pt x="494967" y="0"/>
                      <a:pt x="536844" y="41877"/>
                      <a:pt x="536844" y="93536"/>
                    </a:cubicBezTo>
                    <a:close/>
                  </a:path>
                </a:pathLst>
              </a:custGeom>
              <a:solidFill>
                <a:srgbClr val="000000">
                  <a:alpha val="0"/>
                </a:srgbClr>
              </a:solidFill>
              <a:ln w="19050" cap="sq">
                <a:solidFill>
                  <a:srgbClr val="000000"/>
                </a:solidFill>
                <a:prstDash val="solid"/>
                <a:miter/>
              </a:ln>
            </p:spPr>
          </p:sp>
          <p:sp>
            <p:nvSpPr>
              <p:cNvPr id="44" name="TextBox 44"/>
              <p:cNvSpPr txBox="1"/>
              <p:nvPr/>
            </p:nvSpPr>
            <p:spPr>
              <a:xfrm>
                <a:off x="0" y="-38100"/>
                <a:ext cx="536844" cy="225171"/>
              </a:xfrm>
              <a:prstGeom prst="rect">
                <a:avLst/>
              </a:prstGeom>
            </p:spPr>
            <p:txBody>
              <a:bodyPr lIns="26707" tIns="26707" rIns="26707" bIns="26707" rtlCol="0" anchor="ctr"/>
              <a:lstStyle/>
              <a:p>
                <a:pPr algn="ctr">
                  <a:lnSpc>
                    <a:spcPts val="2698"/>
                  </a:lnSpc>
                </a:pPr>
                <a:endParaRPr/>
              </a:p>
            </p:txBody>
          </p:sp>
        </p:grpSp>
        <p:sp>
          <p:nvSpPr>
            <p:cNvPr id="45" name="AutoShape 45"/>
            <p:cNvSpPr/>
            <p:nvPr/>
          </p:nvSpPr>
          <p:spPr>
            <a:xfrm>
              <a:off x="6845139" y="1674517"/>
              <a:ext cx="1226151" cy="0"/>
            </a:xfrm>
            <a:prstGeom prst="line">
              <a:avLst/>
            </a:prstGeom>
            <a:ln w="52590" cap="flat">
              <a:solidFill>
                <a:srgbClr val="000000"/>
              </a:solidFill>
              <a:prstDash val="solid"/>
              <a:headEnd type="none" w="sm" len="sm"/>
              <a:tailEnd type="arrow" w="med" len="sm"/>
            </a:ln>
          </p:spPr>
        </p:sp>
        <p:sp>
          <p:nvSpPr>
            <p:cNvPr id="46" name="AutoShape 46"/>
            <p:cNvSpPr/>
            <p:nvPr/>
          </p:nvSpPr>
          <p:spPr>
            <a:xfrm>
              <a:off x="3653886" y="378782"/>
              <a:ext cx="2104258" cy="916956"/>
            </a:xfrm>
            <a:prstGeom prst="line">
              <a:avLst/>
            </a:prstGeom>
            <a:ln w="52590" cap="flat">
              <a:solidFill>
                <a:srgbClr val="000000"/>
              </a:solidFill>
              <a:prstDash val="solid"/>
              <a:headEnd type="none" w="sm" len="sm"/>
              <a:tailEnd type="arrow" w="med" len="sm"/>
            </a:ln>
          </p:spPr>
        </p:sp>
        <p:sp>
          <p:nvSpPr>
            <p:cNvPr id="47" name="AutoShape 47"/>
            <p:cNvSpPr/>
            <p:nvPr/>
          </p:nvSpPr>
          <p:spPr>
            <a:xfrm flipV="1">
              <a:off x="3653886" y="1674517"/>
              <a:ext cx="508631" cy="1472911"/>
            </a:xfrm>
            <a:prstGeom prst="line">
              <a:avLst/>
            </a:prstGeom>
            <a:ln w="52590" cap="flat">
              <a:solidFill>
                <a:srgbClr val="000000"/>
              </a:solidFill>
              <a:prstDash val="solid"/>
              <a:headEnd type="none" w="sm" len="sm"/>
              <a:tailEnd type="arrow" w="med" len="sm"/>
            </a:ln>
          </p:spPr>
        </p:sp>
        <p:sp>
          <p:nvSpPr>
            <p:cNvPr id="48" name="AutoShape 48"/>
            <p:cNvSpPr/>
            <p:nvPr/>
          </p:nvSpPr>
          <p:spPr>
            <a:xfrm>
              <a:off x="752107" y="1660586"/>
              <a:ext cx="598376" cy="1637509"/>
            </a:xfrm>
            <a:prstGeom prst="line">
              <a:avLst/>
            </a:prstGeom>
            <a:ln w="52590" cap="flat">
              <a:solidFill>
                <a:srgbClr val="000000"/>
              </a:solidFill>
              <a:prstDash val="solid"/>
              <a:headEnd type="none" w="sm" len="sm"/>
              <a:tailEnd type="arrow" w="med" len="sm"/>
            </a:ln>
          </p:spPr>
        </p:sp>
        <p:sp>
          <p:nvSpPr>
            <p:cNvPr id="49" name="AutoShape 49"/>
            <p:cNvSpPr/>
            <p:nvPr/>
          </p:nvSpPr>
          <p:spPr>
            <a:xfrm>
              <a:off x="26295" y="1660586"/>
              <a:ext cx="1283192" cy="119407"/>
            </a:xfrm>
            <a:prstGeom prst="line">
              <a:avLst/>
            </a:prstGeom>
            <a:ln w="52590" cap="flat">
              <a:solidFill>
                <a:srgbClr val="000000"/>
              </a:solidFill>
              <a:prstDash val="solid"/>
              <a:headEnd type="none" w="sm" len="sm"/>
              <a:tailEnd type="arrow" w="med" len="sm"/>
            </a:ln>
          </p:spPr>
        </p:sp>
        <p:sp>
          <p:nvSpPr>
            <p:cNvPr id="50" name="AutoShape 50"/>
            <p:cNvSpPr/>
            <p:nvPr/>
          </p:nvSpPr>
          <p:spPr>
            <a:xfrm>
              <a:off x="26295" y="378782"/>
              <a:ext cx="1453601" cy="0"/>
            </a:xfrm>
            <a:prstGeom prst="line">
              <a:avLst/>
            </a:prstGeom>
            <a:ln w="52590" cap="flat">
              <a:solidFill>
                <a:srgbClr val="000000"/>
              </a:solidFill>
              <a:prstDash val="solid"/>
              <a:headEnd type="none" w="sm" len="sm"/>
              <a:tailEnd type="arrow" w="med" len="sm"/>
            </a:ln>
          </p:spPr>
        </p:sp>
        <p:sp>
          <p:nvSpPr>
            <p:cNvPr id="51" name="AutoShape 51"/>
            <p:cNvSpPr/>
            <p:nvPr/>
          </p:nvSpPr>
          <p:spPr>
            <a:xfrm>
              <a:off x="10245279" y="1674517"/>
              <a:ext cx="821034" cy="0"/>
            </a:xfrm>
            <a:prstGeom prst="line">
              <a:avLst/>
            </a:prstGeom>
            <a:ln w="52590" cap="flat">
              <a:solidFill>
                <a:srgbClr val="000000"/>
              </a:solidFill>
              <a:prstDash val="solid"/>
              <a:headEnd type="none" w="sm" len="sm"/>
              <a:tailEnd type="arrow" w="med" len="sm"/>
            </a:ln>
          </p:spPr>
        </p:sp>
      </p:grpSp>
      <p:grpSp>
        <p:nvGrpSpPr>
          <p:cNvPr id="52" name="Group 52"/>
          <p:cNvGrpSpPr/>
          <p:nvPr/>
        </p:nvGrpSpPr>
        <p:grpSpPr>
          <a:xfrm>
            <a:off x="11265904" y="4163187"/>
            <a:ext cx="4939531" cy="6236811"/>
            <a:chOff x="0" y="0"/>
            <a:chExt cx="6586041" cy="8315748"/>
          </a:xfrm>
        </p:grpSpPr>
        <p:sp>
          <p:nvSpPr>
            <p:cNvPr id="53" name="Freeform 53"/>
            <p:cNvSpPr/>
            <p:nvPr/>
          </p:nvSpPr>
          <p:spPr>
            <a:xfrm>
              <a:off x="797353" y="0"/>
              <a:ext cx="5540367" cy="8315748"/>
            </a:xfrm>
            <a:custGeom>
              <a:avLst/>
              <a:gdLst/>
              <a:ahLst/>
              <a:cxnLst/>
              <a:rect l="l" t="t" r="r" b="b"/>
              <a:pathLst>
                <a:path w="5540367" h="8315748">
                  <a:moveTo>
                    <a:pt x="0" y="0"/>
                  </a:moveTo>
                  <a:lnTo>
                    <a:pt x="5540367" y="0"/>
                  </a:lnTo>
                  <a:lnTo>
                    <a:pt x="5540367" y="8315748"/>
                  </a:lnTo>
                  <a:lnTo>
                    <a:pt x="0" y="8315748"/>
                  </a:lnTo>
                  <a:lnTo>
                    <a:pt x="0" y="0"/>
                  </a:lnTo>
                  <a:close/>
                </a:path>
              </a:pathLst>
            </a:custGeom>
            <a:blipFill>
              <a:blip r:embed="rId6"/>
              <a:stretch>
                <a:fillRect/>
              </a:stretch>
            </a:blipFill>
          </p:spPr>
        </p:sp>
        <p:sp>
          <p:nvSpPr>
            <p:cNvPr id="54" name="TextBox 54"/>
            <p:cNvSpPr txBox="1"/>
            <p:nvPr/>
          </p:nvSpPr>
          <p:spPr>
            <a:xfrm>
              <a:off x="664940" y="1989402"/>
              <a:ext cx="1999620" cy="596136"/>
            </a:xfrm>
            <a:prstGeom prst="rect">
              <a:avLst/>
            </a:prstGeom>
          </p:spPr>
          <p:txBody>
            <a:bodyPr lIns="0" tIns="0" rIns="0" bIns="0" rtlCol="0" anchor="t">
              <a:spAutoFit/>
            </a:bodyPr>
            <a:lstStyle/>
            <a:p>
              <a:pPr algn="ctr">
                <a:lnSpc>
                  <a:spcPts val="1800"/>
                </a:lnSpc>
              </a:pPr>
              <a:r>
                <a:rPr lang="en-US" sz="1285" b="1">
                  <a:solidFill>
                    <a:srgbClr val="000000"/>
                  </a:solidFill>
                  <a:latin typeface="Canva Sans Bold"/>
                  <a:ea typeface="Canva Sans Bold"/>
                  <a:cs typeface="Canva Sans Bold"/>
                  <a:sym typeface="Canva Sans Bold"/>
                </a:rPr>
                <a:t>HALL EFFECT SENSOR</a:t>
              </a:r>
            </a:p>
          </p:txBody>
        </p:sp>
        <p:sp>
          <p:nvSpPr>
            <p:cNvPr id="55" name="TextBox 55"/>
            <p:cNvSpPr txBox="1"/>
            <p:nvPr/>
          </p:nvSpPr>
          <p:spPr>
            <a:xfrm>
              <a:off x="0" y="4951688"/>
              <a:ext cx="1999620" cy="295346"/>
            </a:xfrm>
            <a:prstGeom prst="rect">
              <a:avLst/>
            </a:prstGeom>
          </p:spPr>
          <p:txBody>
            <a:bodyPr lIns="0" tIns="0" rIns="0" bIns="0" rtlCol="0" anchor="t">
              <a:spAutoFit/>
            </a:bodyPr>
            <a:lstStyle/>
            <a:p>
              <a:pPr algn="ctr">
                <a:lnSpc>
                  <a:spcPts val="1800"/>
                </a:lnSpc>
              </a:pPr>
              <a:r>
                <a:rPr lang="en-US" sz="1285" b="1">
                  <a:solidFill>
                    <a:srgbClr val="000000"/>
                  </a:solidFill>
                  <a:latin typeface="Canva Sans Bold"/>
                  <a:ea typeface="Canva Sans Bold"/>
                  <a:cs typeface="Canva Sans Bold"/>
                  <a:sym typeface="Canva Sans Bold"/>
                </a:rPr>
                <a:t>FLEX SENSOR</a:t>
              </a:r>
            </a:p>
          </p:txBody>
        </p:sp>
        <p:sp>
          <p:nvSpPr>
            <p:cNvPr id="56" name="TextBox 56"/>
            <p:cNvSpPr txBox="1"/>
            <p:nvPr/>
          </p:nvSpPr>
          <p:spPr>
            <a:xfrm>
              <a:off x="4338100" y="1170930"/>
              <a:ext cx="1999620" cy="295346"/>
            </a:xfrm>
            <a:prstGeom prst="rect">
              <a:avLst/>
            </a:prstGeom>
          </p:spPr>
          <p:txBody>
            <a:bodyPr lIns="0" tIns="0" rIns="0" bIns="0" rtlCol="0" anchor="t">
              <a:spAutoFit/>
            </a:bodyPr>
            <a:lstStyle/>
            <a:p>
              <a:pPr algn="ctr">
                <a:lnSpc>
                  <a:spcPts val="1800"/>
                </a:lnSpc>
              </a:pPr>
              <a:r>
                <a:rPr lang="en-US" sz="1285" b="1">
                  <a:solidFill>
                    <a:srgbClr val="000000"/>
                  </a:solidFill>
                  <a:latin typeface="Canva Sans Bold"/>
                  <a:ea typeface="Canva Sans Bold"/>
                  <a:cs typeface="Canva Sans Bold"/>
                  <a:sym typeface="Canva Sans Bold"/>
                </a:rPr>
                <a:t>MAGNETS</a:t>
              </a:r>
            </a:p>
          </p:txBody>
        </p:sp>
        <p:sp>
          <p:nvSpPr>
            <p:cNvPr id="57" name="TextBox 57"/>
            <p:cNvSpPr txBox="1"/>
            <p:nvPr/>
          </p:nvSpPr>
          <p:spPr>
            <a:xfrm>
              <a:off x="3338291" y="7595541"/>
              <a:ext cx="1999620" cy="596136"/>
            </a:xfrm>
            <a:prstGeom prst="rect">
              <a:avLst/>
            </a:prstGeom>
          </p:spPr>
          <p:txBody>
            <a:bodyPr lIns="0" tIns="0" rIns="0" bIns="0" rtlCol="0" anchor="t">
              <a:spAutoFit/>
            </a:bodyPr>
            <a:lstStyle/>
            <a:p>
              <a:pPr algn="ctr">
                <a:lnSpc>
                  <a:spcPts val="1800"/>
                </a:lnSpc>
              </a:pPr>
              <a:r>
                <a:rPr lang="en-US" sz="1285" b="1">
                  <a:solidFill>
                    <a:srgbClr val="000000"/>
                  </a:solidFill>
                  <a:latin typeface="Canva Sans Bold"/>
                  <a:ea typeface="Canva Sans Bold"/>
                  <a:cs typeface="Canva Sans Bold"/>
                  <a:sym typeface="Canva Sans Bold"/>
                </a:rPr>
                <a:t>IMU</a:t>
              </a:r>
            </a:p>
            <a:p>
              <a:pPr algn="ctr">
                <a:lnSpc>
                  <a:spcPts val="1800"/>
                </a:lnSpc>
              </a:pPr>
              <a:r>
                <a:rPr lang="en-US" sz="1285" b="1">
                  <a:solidFill>
                    <a:srgbClr val="000000"/>
                  </a:solidFill>
                  <a:latin typeface="Canva Sans Bold"/>
                  <a:ea typeface="Canva Sans Bold"/>
                  <a:cs typeface="Canva Sans Bold"/>
                  <a:sym typeface="Canva Sans Bold"/>
                </a:rPr>
                <a:t>MPU 6050</a:t>
              </a:r>
            </a:p>
          </p:txBody>
        </p:sp>
        <p:sp>
          <p:nvSpPr>
            <p:cNvPr id="58" name="AutoShape 58"/>
            <p:cNvSpPr/>
            <p:nvPr/>
          </p:nvSpPr>
          <p:spPr>
            <a:xfrm flipV="1">
              <a:off x="5101504" y="1466276"/>
              <a:ext cx="236406" cy="497325"/>
            </a:xfrm>
            <a:prstGeom prst="line">
              <a:avLst/>
            </a:prstGeom>
            <a:ln w="8594" cap="flat">
              <a:solidFill>
                <a:srgbClr val="000000"/>
              </a:solidFill>
              <a:prstDash val="solid"/>
              <a:headEnd type="none" w="sm" len="sm"/>
              <a:tailEnd type="none" w="sm" len="sm"/>
            </a:ln>
          </p:spPr>
        </p:sp>
        <p:sp>
          <p:nvSpPr>
            <p:cNvPr id="59" name="TextBox 59"/>
            <p:cNvSpPr txBox="1"/>
            <p:nvPr/>
          </p:nvSpPr>
          <p:spPr>
            <a:xfrm>
              <a:off x="4586421" y="4823065"/>
              <a:ext cx="1999620" cy="295346"/>
            </a:xfrm>
            <a:prstGeom prst="rect">
              <a:avLst/>
            </a:prstGeom>
          </p:spPr>
          <p:txBody>
            <a:bodyPr lIns="0" tIns="0" rIns="0" bIns="0" rtlCol="0" anchor="t">
              <a:spAutoFit/>
            </a:bodyPr>
            <a:lstStyle/>
            <a:p>
              <a:pPr algn="ctr">
                <a:lnSpc>
                  <a:spcPts val="1800"/>
                </a:lnSpc>
              </a:pPr>
              <a:r>
                <a:rPr lang="en-US" sz="1285" b="1">
                  <a:solidFill>
                    <a:srgbClr val="000000"/>
                  </a:solidFill>
                  <a:latin typeface="Canva Sans Bold"/>
                  <a:ea typeface="Canva Sans Bold"/>
                  <a:cs typeface="Canva Sans Bold"/>
                  <a:sym typeface="Canva Sans Bold"/>
                </a:rPr>
                <a:t>SPEAKER</a:t>
              </a:r>
            </a:p>
          </p:txBody>
        </p:sp>
        <p:sp>
          <p:nvSpPr>
            <p:cNvPr id="60" name="AutoShape 60"/>
            <p:cNvSpPr/>
            <p:nvPr/>
          </p:nvSpPr>
          <p:spPr>
            <a:xfrm flipV="1">
              <a:off x="4586421" y="5118411"/>
              <a:ext cx="999810" cy="625949"/>
            </a:xfrm>
            <a:prstGeom prst="line">
              <a:avLst/>
            </a:prstGeom>
            <a:ln w="8594" cap="flat">
              <a:solidFill>
                <a:srgbClr val="000000"/>
              </a:solidFill>
              <a:prstDash val="solid"/>
              <a:headEnd type="none" w="sm" len="sm"/>
              <a:tailEnd type="none" w="sm" len="sm"/>
            </a:ln>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799786" y="1530983"/>
            <a:ext cx="405649" cy="40564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0316B"/>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5" name="Group 5"/>
          <p:cNvGrpSpPr/>
          <p:nvPr/>
        </p:nvGrpSpPr>
        <p:grpSpPr>
          <a:xfrm>
            <a:off x="16348310" y="1530983"/>
            <a:ext cx="405649" cy="40564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8" name="Group 8"/>
          <p:cNvGrpSpPr/>
          <p:nvPr/>
        </p:nvGrpSpPr>
        <p:grpSpPr>
          <a:xfrm>
            <a:off x="16896834" y="1530983"/>
            <a:ext cx="405649" cy="40564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E63"/>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sp>
        <p:nvSpPr>
          <p:cNvPr id="11" name="Freeform 11"/>
          <p:cNvSpPr/>
          <p:nvPr/>
        </p:nvSpPr>
        <p:spPr>
          <a:xfrm rot="4615951">
            <a:off x="-4892817" y="2735952"/>
            <a:ext cx="11756667" cy="5682389"/>
          </a:xfrm>
          <a:custGeom>
            <a:avLst/>
            <a:gdLst/>
            <a:ahLst/>
            <a:cxnLst/>
            <a:rect l="l" t="t" r="r" b="b"/>
            <a:pathLst>
              <a:path w="11756667" h="5682389">
                <a:moveTo>
                  <a:pt x="0" y="0"/>
                </a:moveTo>
                <a:lnTo>
                  <a:pt x="11756667" y="0"/>
                </a:lnTo>
                <a:lnTo>
                  <a:pt x="11756667" y="5682389"/>
                </a:lnTo>
                <a:lnTo>
                  <a:pt x="0" y="5682389"/>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grpSp>
        <p:nvGrpSpPr>
          <p:cNvPr id="12" name="Group 12"/>
          <p:cNvGrpSpPr/>
          <p:nvPr/>
        </p:nvGrpSpPr>
        <p:grpSpPr>
          <a:xfrm>
            <a:off x="-1549709" y="2378658"/>
            <a:ext cx="14808294" cy="1999044"/>
            <a:chOff x="0" y="0"/>
            <a:chExt cx="2983164" cy="402712"/>
          </a:xfrm>
        </p:grpSpPr>
        <p:sp>
          <p:nvSpPr>
            <p:cNvPr id="13" name="Freeform 13"/>
            <p:cNvSpPr/>
            <p:nvPr/>
          </p:nvSpPr>
          <p:spPr>
            <a:xfrm>
              <a:off x="0" y="0"/>
              <a:ext cx="2983164" cy="402712"/>
            </a:xfrm>
            <a:custGeom>
              <a:avLst/>
              <a:gdLst/>
              <a:ahLst/>
              <a:cxnLst/>
              <a:rect l="l" t="t" r="r" b="b"/>
              <a:pathLst>
                <a:path w="2983164" h="402712">
                  <a:moveTo>
                    <a:pt x="2779964" y="0"/>
                  </a:moveTo>
                  <a:cubicBezTo>
                    <a:pt x="2892188" y="0"/>
                    <a:pt x="2983164" y="90150"/>
                    <a:pt x="2983164" y="201356"/>
                  </a:cubicBezTo>
                  <a:cubicBezTo>
                    <a:pt x="2983164" y="312562"/>
                    <a:pt x="2892188" y="402712"/>
                    <a:pt x="2779964" y="402712"/>
                  </a:cubicBezTo>
                  <a:lnTo>
                    <a:pt x="203200" y="402712"/>
                  </a:lnTo>
                  <a:cubicBezTo>
                    <a:pt x="90976" y="402712"/>
                    <a:pt x="0" y="312562"/>
                    <a:pt x="0" y="201356"/>
                  </a:cubicBezTo>
                  <a:cubicBezTo>
                    <a:pt x="0" y="90150"/>
                    <a:pt x="90976" y="0"/>
                    <a:pt x="203200" y="0"/>
                  </a:cubicBezTo>
                  <a:close/>
                </a:path>
              </a:pathLst>
            </a:custGeom>
            <a:solidFill>
              <a:srgbClr val="10316B"/>
            </a:solidFill>
            <a:ln cap="sq">
              <a:noFill/>
              <a:prstDash val="solid"/>
              <a:miter/>
            </a:ln>
          </p:spPr>
        </p:sp>
        <p:sp>
          <p:nvSpPr>
            <p:cNvPr id="14" name="TextBox 14"/>
            <p:cNvSpPr txBox="1"/>
            <p:nvPr/>
          </p:nvSpPr>
          <p:spPr>
            <a:xfrm>
              <a:off x="0" y="-57150"/>
              <a:ext cx="2983164" cy="459862"/>
            </a:xfrm>
            <a:prstGeom prst="rect">
              <a:avLst/>
            </a:prstGeom>
          </p:spPr>
          <p:txBody>
            <a:bodyPr lIns="50800" tIns="50800" rIns="50800" bIns="50800" rtlCol="0" anchor="ctr"/>
            <a:lstStyle/>
            <a:p>
              <a:pPr algn="ctr">
                <a:lnSpc>
                  <a:spcPts val="3511"/>
                </a:lnSpc>
              </a:pPr>
              <a:endParaRPr/>
            </a:p>
          </p:txBody>
        </p:sp>
      </p:grpSp>
      <p:grpSp>
        <p:nvGrpSpPr>
          <p:cNvPr id="15" name="Group 15"/>
          <p:cNvGrpSpPr/>
          <p:nvPr/>
        </p:nvGrpSpPr>
        <p:grpSpPr>
          <a:xfrm>
            <a:off x="13435725" y="2378658"/>
            <a:ext cx="2053961" cy="1999044"/>
            <a:chOff x="0" y="0"/>
            <a:chExt cx="406400" cy="395534"/>
          </a:xfrm>
        </p:grpSpPr>
        <p:sp>
          <p:nvSpPr>
            <p:cNvPr id="16" name="Freeform 16"/>
            <p:cNvSpPr/>
            <p:nvPr/>
          </p:nvSpPr>
          <p:spPr>
            <a:xfrm>
              <a:off x="0" y="0"/>
              <a:ext cx="406400" cy="395534"/>
            </a:xfrm>
            <a:custGeom>
              <a:avLst/>
              <a:gdLst/>
              <a:ahLst/>
              <a:cxnLst/>
              <a:rect l="l" t="t" r="r" b="b"/>
              <a:pathLst>
                <a:path w="406400" h="395534">
                  <a:moveTo>
                    <a:pt x="203200" y="0"/>
                  </a:moveTo>
                  <a:cubicBezTo>
                    <a:pt x="315424" y="0"/>
                    <a:pt x="406400" y="88543"/>
                    <a:pt x="406400" y="197767"/>
                  </a:cubicBezTo>
                  <a:cubicBezTo>
                    <a:pt x="406400" y="306991"/>
                    <a:pt x="315424" y="395534"/>
                    <a:pt x="203200" y="395534"/>
                  </a:cubicBezTo>
                  <a:lnTo>
                    <a:pt x="203200" y="395534"/>
                  </a:lnTo>
                  <a:cubicBezTo>
                    <a:pt x="90976" y="395534"/>
                    <a:pt x="0" y="306991"/>
                    <a:pt x="0" y="197767"/>
                  </a:cubicBezTo>
                  <a:cubicBezTo>
                    <a:pt x="0" y="88543"/>
                    <a:pt x="90976" y="0"/>
                    <a:pt x="203200" y="0"/>
                  </a:cubicBezTo>
                  <a:close/>
                </a:path>
              </a:pathLst>
            </a:custGeom>
            <a:solidFill>
              <a:srgbClr val="0B409C"/>
            </a:solidFill>
            <a:ln w="142875" cap="sq">
              <a:solidFill>
                <a:srgbClr val="10316B"/>
              </a:solidFill>
              <a:prstDash val="solid"/>
              <a:miter/>
            </a:ln>
          </p:spPr>
        </p:sp>
        <p:sp>
          <p:nvSpPr>
            <p:cNvPr id="17" name="TextBox 17"/>
            <p:cNvSpPr txBox="1"/>
            <p:nvPr/>
          </p:nvSpPr>
          <p:spPr>
            <a:xfrm>
              <a:off x="0" y="-57150"/>
              <a:ext cx="406400" cy="452684"/>
            </a:xfrm>
            <a:prstGeom prst="rect">
              <a:avLst/>
            </a:prstGeom>
          </p:spPr>
          <p:txBody>
            <a:bodyPr lIns="50800" tIns="50800" rIns="50800" bIns="50800" rtlCol="0" anchor="ctr"/>
            <a:lstStyle/>
            <a:p>
              <a:pPr algn="ctr">
                <a:lnSpc>
                  <a:spcPts val="3511"/>
                </a:lnSpc>
              </a:pPr>
              <a:endParaRPr/>
            </a:p>
          </p:txBody>
        </p:sp>
      </p:grpSp>
      <p:sp>
        <p:nvSpPr>
          <p:cNvPr id="18" name="Freeform 18"/>
          <p:cNvSpPr/>
          <p:nvPr/>
        </p:nvSpPr>
        <p:spPr>
          <a:xfrm>
            <a:off x="13834029" y="2749504"/>
            <a:ext cx="1257352" cy="1257352"/>
          </a:xfrm>
          <a:custGeom>
            <a:avLst/>
            <a:gdLst/>
            <a:ahLst/>
            <a:cxnLst/>
            <a:rect l="l" t="t" r="r" b="b"/>
            <a:pathLst>
              <a:path w="1257352" h="1257352">
                <a:moveTo>
                  <a:pt x="0" y="0"/>
                </a:moveTo>
                <a:lnTo>
                  <a:pt x="1257352" y="0"/>
                </a:lnTo>
                <a:lnTo>
                  <a:pt x="1257352" y="1257352"/>
                </a:lnTo>
                <a:lnTo>
                  <a:pt x="0" y="125735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9" name="TextBox 19"/>
          <p:cNvSpPr txBox="1"/>
          <p:nvPr/>
        </p:nvSpPr>
        <p:spPr>
          <a:xfrm>
            <a:off x="985517" y="644783"/>
            <a:ext cx="16273783" cy="1003300"/>
          </a:xfrm>
          <a:prstGeom prst="rect">
            <a:avLst/>
          </a:prstGeom>
        </p:spPr>
        <p:txBody>
          <a:bodyPr lIns="0" tIns="0" rIns="0" bIns="0" rtlCol="0" anchor="t">
            <a:spAutoFit/>
          </a:bodyPr>
          <a:lstStyle/>
          <a:p>
            <a:pPr marL="0" lvl="0" indent="0" algn="l">
              <a:lnSpc>
                <a:spcPts val="7699"/>
              </a:lnSpc>
            </a:pPr>
            <a:r>
              <a:rPr lang="en-US" sz="6999" spc="349">
                <a:solidFill>
                  <a:srgbClr val="10316B"/>
                </a:solidFill>
                <a:latin typeface="Archivo Black"/>
                <a:ea typeface="Archivo Black"/>
                <a:cs typeface="Archivo Black"/>
                <a:sym typeface="Archivo Black"/>
              </a:rPr>
              <a:t>VANITRA-HARDWARE DESIGN</a:t>
            </a:r>
          </a:p>
        </p:txBody>
      </p:sp>
      <p:sp>
        <p:nvSpPr>
          <p:cNvPr id="20" name="TextBox 20"/>
          <p:cNvSpPr txBox="1"/>
          <p:nvPr/>
        </p:nvSpPr>
        <p:spPr>
          <a:xfrm>
            <a:off x="1028700" y="3308896"/>
            <a:ext cx="11242047" cy="306705"/>
          </a:xfrm>
          <a:prstGeom prst="rect">
            <a:avLst/>
          </a:prstGeom>
        </p:spPr>
        <p:txBody>
          <a:bodyPr lIns="0" tIns="0" rIns="0" bIns="0" rtlCol="0" anchor="t">
            <a:spAutoFit/>
          </a:bodyPr>
          <a:lstStyle/>
          <a:p>
            <a:pPr algn="l">
              <a:lnSpc>
                <a:spcPts val="2520"/>
              </a:lnSpc>
            </a:pPr>
            <a:r>
              <a:rPr lang="en-US" sz="1800" spc="360">
                <a:solidFill>
                  <a:srgbClr val="F2F7FF"/>
                </a:solidFill>
                <a:latin typeface="Inter"/>
                <a:ea typeface="Inter"/>
                <a:cs typeface="Inter"/>
                <a:sym typeface="Inter"/>
              </a:rPr>
              <a:t>Microphone, Hall Effect Sensors &amp; Magnets, Haptic Motor (Vibromotor)</a:t>
            </a:r>
          </a:p>
        </p:txBody>
      </p:sp>
      <p:sp>
        <p:nvSpPr>
          <p:cNvPr id="21" name="TextBox 21"/>
          <p:cNvSpPr txBox="1"/>
          <p:nvPr/>
        </p:nvSpPr>
        <p:spPr>
          <a:xfrm>
            <a:off x="1028700" y="2750234"/>
            <a:ext cx="11242047" cy="500379"/>
          </a:xfrm>
          <a:prstGeom prst="rect">
            <a:avLst/>
          </a:prstGeom>
        </p:spPr>
        <p:txBody>
          <a:bodyPr lIns="0" tIns="0" rIns="0" bIns="0" rtlCol="0" anchor="t">
            <a:spAutoFit/>
          </a:bodyPr>
          <a:lstStyle/>
          <a:p>
            <a:pPr marL="0" lvl="0" indent="0" algn="l">
              <a:lnSpc>
                <a:spcPts val="3920"/>
              </a:lnSpc>
            </a:pPr>
            <a:r>
              <a:rPr lang="en-US" sz="2800" b="1" spc="280">
                <a:solidFill>
                  <a:srgbClr val="F2F7FF"/>
                </a:solidFill>
                <a:latin typeface="Roboto Bold"/>
                <a:ea typeface="Roboto Bold"/>
                <a:cs typeface="Roboto Bold"/>
                <a:sym typeface="Roboto Bold"/>
              </a:rPr>
              <a:t>COMPONENTS: SPEECH UNIT</a:t>
            </a:r>
          </a:p>
        </p:txBody>
      </p:sp>
      <p:grpSp>
        <p:nvGrpSpPr>
          <p:cNvPr id="22" name="Group 22"/>
          <p:cNvGrpSpPr/>
          <p:nvPr/>
        </p:nvGrpSpPr>
        <p:grpSpPr>
          <a:xfrm>
            <a:off x="1028700" y="6342107"/>
            <a:ext cx="9399292" cy="1229052"/>
            <a:chOff x="0" y="0"/>
            <a:chExt cx="12532390" cy="1638736"/>
          </a:xfrm>
        </p:grpSpPr>
        <p:grpSp>
          <p:nvGrpSpPr>
            <p:cNvPr id="23" name="Group 23"/>
            <p:cNvGrpSpPr/>
            <p:nvPr/>
          </p:nvGrpSpPr>
          <p:grpSpPr>
            <a:xfrm>
              <a:off x="592757" y="197378"/>
              <a:ext cx="2006974" cy="1243629"/>
              <a:chOff x="0" y="0"/>
              <a:chExt cx="301899" cy="187071"/>
            </a:xfrm>
          </p:grpSpPr>
          <p:sp>
            <p:nvSpPr>
              <p:cNvPr id="24" name="Freeform 24"/>
              <p:cNvSpPr/>
              <p:nvPr/>
            </p:nvSpPr>
            <p:spPr>
              <a:xfrm>
                <a:off x="0" y="0"/>
                <a:ext cx="301899" cy="187071"/>
              </a:xfrm>
              <a:custGeom>
                <a:avLst/>
                <a:gdLst/>
                <a:ahLst/>
                <a:cxnLst/>
                <a:rect l="l" t="t" r="r" b="b"/>
                <a:pathLst>
                  <a:path w="301899" h="187071">
                    <a:moveTo>
                      <a:pt x="301899" y="93536"/>
                    </a:moveTo>
                    <a:lnTo>
                      <a:pt x="301899" y="93536"/>
                    </a:lnTo>
                    <a:cubicBezTo>
                      <a:pt x="301899" y="145194"/>
                      <a:pt x="260021" y="187071"/>
                      <a:pt x="208363" y="187071"/>
                    </a:cubicBezTo>
                    <a:lnTo>
                      <a:pt x="93536" y="187071"/>
                    </a:lnTo>
                    <a:cubicBezTo>
                      <a:pt x="41877" y="187071"/>
                      <a:pt x="0" y="145194"/>
                      <a:pt x="0" y="93536"/>
                    </a:cubicBezTo>
                    <a:lnTo>
                      <a:pt x="0" y="93536"/>
                    </a:lnTo>
                    <a:cubicBezTo>
                      <a:pt x="0" y="41877"/>
                      <a:pt x="41877" y="0"/>
                      <a:pt x="93536" y="0"/>
                    </a:cubicBezTo>
                    <a:lnTo>
                      <a:pt x="208363" y="0"/>
                    </a:lnTo>
                    <a:cubicBezTo>
                      <a:pt x="260021" y="0"/>
                      <a:pt x="301899" y="41877"/>
                      <a:pt x="301899" y="93536"/>
                    </a:cubicBezTo>
                    <a:close/>
                  </a:path>
                </a:pathLst>
              </a:custGeom>
              <a:solidFill>
                <a:srgbClr val="000000">
                  <a:alpha val="0"/>
                </a:srgbClr>
              </a:solidFill>
              <a:ln w="19050" cap="sq">
                <a:solidFill>
                  <a:srgbClr val="000000"/>
                </a:solidFill>
                <a:prstDash val="solid"/>
                <a:miter/>
              </a:ln>
            </p:spPr>
          </p:sp>
          <p:sp>
            <p:nvSpPr>
              <p:cNvPr id="25" name="TextBox 25"/>
              <p:cNvSpPr txBox="1"/>
              <p:nvPr/>
            </p:nvSpPr>
            <p:spPr>
              <a:xfrm>
                <a:off x="0" y="-38100"/>
                <a:ext cx="301899" cy="225171"/>
              </a:xfrm>
              <a:prstGeom prst="rect">
                <a:avLst/>
              </a:prstGeom>
            </p:spPr>
            <p:txBody>
              <a:bodyPr lIns="26707" tIns="26707" rIns="26707" bIns="26707" rtlCol="0" anchor="ctr"/>
              <a:lstStyle/>
              <a:p>
                <a:pPr algn="ctr">
                  <a:lnSpc>
                    <a:spcPts val="2698"/>
                  </a:lnSpc>
                </a:pPr>
                <a:endParaRPr/>
              </a:p>
            </p:txBody>
          </p:sp>
        </p:grpSp>
        <p:sp>
          <p:nvSpPr>
            <p:cNvPr id="26" name="TextBox 26"/>
            <p:cNvSpPr txBox="1"/>
            <p:nvPr/>
          </p:nvSpPr>
          <p:spPr>
            <a:xfrm>
              <a:off x="0" y="432709"/>
              <a:ext cx="3046055" cy="706642"/>
            </a:xfrm>
            <a:prstGeom prst="rect">
              <a:avLst/>
            </a:prstGeom>
          </p:spPr>
          <p:txBody>
            <a:bodyPr lIns="0" tIns="0" rIns="0" bIns="0" rtlCol="0" anchor="t">
              <a:spAutoFit/>
            </a:bodyPr>
            <a:lstStyle/>
            <a:p>
              <a:pPr algn="ctr">
                <a:lnSpc>
                  <a:spcPts val="4503"/>
                </a:lnSpc>
              </a:pPr>
              <a:r>
                <a:rPr lang="en-US" sz="3216" b="1">
                  <a:solidFill>
                    <a:srgbClr val="000000"/>
                  </a:solidFill>
                  <a:latin typeface="Canva Sans Bold"/>
                  <a:ea typeface="Canva Sans Bold"/>
                  <a:cs typeface="Canva Sans Bold"/>
                  <a:sym typeface="Canva Sans Bold"/>
                </a:rPr>
                <a:t>MIC</a:t>
              </a:r>
            </a:p>
          </p:txBody>
        </p:sp>
        <p:grpSp>
          <p:nvGrpSpPr>
            <p:cNvPr id="27" name="Group 27"/>
            <p:cNvGrpSpPr/>
            <p:nvPr/>
          </p:nvGrpSpPr>
          <p:grpSpPr>
            <a:xfrm>
              <a:off x="4046049" y="197554"/>
              <a:ext cx="3046055" cy="1243629"/>
              <a:chOff x="0" y="0"/>
              <a:chExt cx="458202" cy="187071"/>
            </a:xfrm>
          </p:grpSpPr>
          <p:sp>
            <p:nvSpPr>
              <p:cNvPr id="28" name="Freeform 28"/>
              <p:cNvSpPr/>
              <p:nvPr/>
            </p:nvSpPr>
            <p:spPr>
              <a:xfrm>
                <a:off x="0" y="0"/>
                <a:ext cx="458202" cy="187071"/>
              </a:xfrm>
              <a:custGeom>
                <a:avLst/>
                <a:gdLst/>
                <a:ahLst/>
                <a:cxnLst/>
                <a:rect l="l" t="t" r="r" b="b"/>
                <a:pathLst>
                  <a:path w="458202" h="187071">
                    <a:moveTo>
                      <a:pt x="458202" y="93536"/>
                    </a:moveTo>
                    <a:lnTo>
                      <a:pt x="458202" y="93536"/>
                    </a:lnTo>
                    <a:cubicBezTo>
                      <a:pt x="458202" y="118343"/>
                      <a:pt x="448348" y="142134"/>
                      <a:pt x="430806" y="159675"/>
                    </a:cubicBezTo>
                    <a:cubicBezTo>
                      <a:pt x="413265" y="177216"/>
                      <a:pt x="389474" y="187071"/>
                      <a:pt x="364667" y="187071"/>
                    </a:cubicBezTo>
                    <a:lnTo>
                      <a:pt x="93536" y="187071"/>
                    </a:lnTo>
                    <a:cubicBezTo>
                      <a:pt x="41877" y="187071"/>
                      <a:pt x="0" y="145194"/>
                      <a:pt x="0" y="93536"/>
                    </a:cubicBezTo>
                    <a:lnTo>
                      <a:pt x="0" y="93536"/>
                    </a:lnTo>
                    <a:cubicBezTo>
                      <a:pt x="0" y="41877"/>
                      <a:pt x="41877" y="0"/>
                      <a:pt x="93536" y="0"/>
                    </a:cubicBezTo>
                    <a:lnTo>
                      <a:pt x="364667" y="0"/>
                    </a:lnTo>
                    <a:cubicBezTo>
                      <a:pt x="416325" y="0"/>
                      <a:pt x="458202" y="41877"/>
                      <a:pt x="458202" y="93536"/>
                    </a:cubicBezTo>
                    <a:close/>
                  </a:path>
                </a:pathLst>
              </a:custGeom>
              <a:solidFill>
                <a:srgbClr val="000000">
                  <a:alpha val="0"/>
                </a:srgbClr>
              </a:solidFill>
              <a:ln w="19050" cap="sq">
                <a:solidFill>
                  <a:srgbClr val="000000"/>
                </a:solidFill>
                <a:prstDash val="solid"/>
                <a:miter/>
              </a:ln>
            </p:spPr>
          </p:sp>
          <p:sp>
            <p:nvSpPr>
              <p:cNvPr id="29" name="TextBox 29"/>
              <p:cNvSpPr txBox="1"/>
              <p:nvPr/>
            </p:nvSpPr>
            <p:spPr>
              <a:xfrm>
                <a:off x="0" y="-38100"/>
                <a:ext cx="458202" cy="225171"/>
              </a:xfrm>
              <a:prstGeom prst="rect">
                <a:avLst/>
              </a:prstGeom>
            </p:spPr>
            <p:txBody>
              <a:bodyPr lIns="26707" tIns="26707" rIns="26707" bIns="26707" rtlCol="0" anchor="ctr"/>
              <a:lstStyle/>
              <a:p>
                <a:pPr algn="ctr">
                  <a:lnSpc>
                    <a:spcPts val="2698"/>
                  </a:lnSpc>
                </a:pPr>
                <a:endParaRPr/>
              </a:p>
            </p:txBody>
          </p:sp>
        </p:grpSp>
        <p:sp>
          <p:nvSpPr>
            <p:cNvPr id="30" name="AutoShape 30"/>
            <p:cNvSpPr/>
            <p:nvPr/>
          </p:nvSpPr>
          <p:spPr>
            <a:xfrm>
              <a:off x="2599731" y="819192"/>
              <a:ext cx="1446318" cy="176"/>
            </a:xfrm>
            <a:prstGeom prst="line">
              <a:avLst/>
            </a:prstGeom>
            <a:ln w="86332" cap="flat">
              <a:solidFill>
                <a:srgbClr val="000000"/>
              </a:solidFill>
              <a:prstDash val="solid"/>
              <a:headEnd type="none" w="sm" len="sm"/>
              <a:tailEnd type="arrow" w="med" len="sm"/>
            </a:ln>
          </p:spPr>
        </p:sp>
        <p:sp>
          <p:nvSpPr>
            <p:cNvPr id="31" name="TextBox 31"/>
            <p:cNvSpPr txBox="1"/>
            <p:nvPr/>
          </p:nvSpPr>
          <p:spPr>
            <a:xfrm>
              <a:off x="4046049" y="432709"/>
              <a:ext cx="3046055" cy="706642"/>
            </a:xfrm>
            <a:prstGeom prst="rect">
              <a:avLst/>
            </a:prstGeom>
          </p:spPr>
          <p:txBody>
            <a:bodyPr lIns="0" tIns="0" rIns="0" bIns="0" rtlCol="0" anchor="t">
              <a:spAutoFit/>
            </a:bodyPr>
            <a:lstStyle/>
            <a:p>
              <a:pPr algn="ctr">
                <a:lnSpc>
                  <a:spcPts val="4503"/>
                </a:lnSpc>
              </a:pPr>
              <a:r>
                <a:rPr lang="en-US" sz="3216" b="1">
                  <a:solidFill>
                    <a:srgbClr val="000000"/>
                  </a:solidFill>
                  <a:latin typeface="Canva Sans Bold"/>
                  <a:ea typeface="Canva Sans Bold"/>
                  <a:cs typeface="Canva Sans Bold"/>
                  <a:sym typeface="Canva Sans Bold"/>
                </a:rPr>
                <a:t>ESP 32 S3</a:t>
              </a:r>
            </a:p>
          </p:txBody>
        </p:sp>
        <p:grpSp>
          <p:nvGrpSpPr>
            <p:cNvPr id="32" name="Group 32"/>
            <p:cNvGrpSpPr/>
            <p:nvPr/>
          </p:nvGrpSpPr>
          <p:grpSpPr>
            <a:xfrm>
              <a:off x="8518586" y="0"/>
              <a:ext cx="4013803" cy="1638736"/>
              <a:chOff x="0" y="0"/>
              <a:chExt cx="458202" cy="187071"/>
            </a:xfrm>
          </p:grpSpPr>
          <p:sp>
            <p:nvSpPr>
              <p:cNvPr id="33" name="Freeform 33"/>
              <p:cNvSpPr/>
              <p:nvPr/>
            </p:nvSpPr>
            <p:spPr>
              <a:xfrm>
                <a:off x="0" y="0"/>
                <a:ext cx="458202" cy="187071"/>
              </a:xfrm>
              <a:custGeom>
                <a:avLst/>
                <a:gdLst/>
                <a:ahLst/>
                <a:cxnLst/>
                <a:rect l="l" t="t" r="r" b="b"/>
                <a:pathLst>
                  <a:path w="458202" h="187071">
                    <a:moveTo>
                      <a:pt x="458202" y="93536"/>
                    </a:moveTo>
                    <a:lnTo>
                      <a:pt x="458202" y="93536"/>
                    </a:lnTo>
                    <a:cubicBezTo>
                      <a:pt x="458202" y="118343"/>
                      <a:pt x="448348" y="142134"/>
                      <a:pt x="430806" y="159675"/>
                    </a:cubicBezTo>
                    <a:cubicBezTo>
                      <a:pt x="413265" y="177216"/>
                      <a:pt x="389474" y="187071"/>
                      <a:pt x="364667" y="187071"/>
                    </a:cubicBezTo>
                    <a:lnTo>
                      <a:pt x="93536" y="187071"/>
                    </a:lnTo>
                    <a:cubicBezTo>
                      <a:pt x="41877" y="187071"/>
                      <a:pt x="0" y="145194"/>
                      <a:pt x="0" y="93536"/>
                    </a:cubicBezTo>
                    <a:lnTo>
                      <a:pt x="0" y="93536"/>
                    </a:lnTo>
                    <a:cubicBezTo>
                      <a:pt x="0" y="41877"/>
                      <a:pt x="41877" y="0"/>
                      <a:pt x="93536" y="0"/>
                    </a:cubicBezTo>
                    <a:lnTo>
                      <a:pt x="364667" y="0"/>
                    </a:lnTo>
                    <a:cubicBezTo>
                      <a:pt x="416325" y="0"/>
                      <a:pt x="458202" y="41877"/>
                      <a:pt x="458202" y="93536"/>
                    </a:cubicBezTo>
                    <a:close/>
                  </a:path>
                </a:pathLst>
              </a:custGeom>
              <a:solidFill>
                <a:srgbClr val="000000">
                  <a:alpha val="0"/>
                </a:srgbClr>
              </a:solidFill>
              <a:ln w="19050" cap="sq">
                <a:solidFill>
                  <a:srgbClr val="000000"/>
                </a:solidFill>
                <a:prstDash val="solid"/>
                <a:miter/>
              </a:ln>
            </p:spPr>
          </p:sp>
          <p:sp>
            <p:nvSpPr>
              <p:cNvPr id="34" name="TextBox 34"/>
              <p:cNvSpPr txBox="1"/>
              <p:nvPr/>
            </p:nvSpPr>
            <p:spPr>
              <a:xfrm>
                <a:off x="0" y="-38100"/>
                <a:ext cx="458202" cy="225171"/>
              </a:xfrm>
              <a:prstGeom prst="rect">
                <a:avLst/>
              </a:prstGeom>
            </p:spPr>
            <p:txBody>
              <a:bodyPr lIns="26707" tIns="26707" rIns="26707" bIns="26707" rtlCol="0" anchor="ctr"/>
              <a:lstStyle/>
              <a:p>
                <a:pPr algn="ctr">
                  <a:lnSpc>
                    <a:spcPts val="2698"/>
                  </a:lnSpc>
                </a:pPr>
                <a:endParaRPr/>
              </a:p>
            </p:txBody>
          </p:sp>
        </p:grpSp>
        <p:sp>
          <p:nvSpPr>
            <p:cNvPr id="35" name="AutoShape 35"/>
            <p:cNvSpPr/>
            <p:nvPr/>
          </p:nvSpPr>
          <p:spPr>
            <a:xfrm>
              <a:off x="7092104" y="819368"/>
              <a:ext cx="1426482" cy="0"/>
            </a:xfrm>
            <a:prstGeom prst="line">
              <a:avLst/>
            </a:prstGeom>
            <a:ln w="86332" cap="flat">
              <a:solidFill>
                <a:srgbClr val="000000"/>
              </a:solidFill>
              <a:prstDash val="solid"/>
              <a:headEnd type="none" w="sm" len="sm"/>
              <a:tailEnd type="arrow" w="med" len="sm"/>
            </a:ln>
          </p:spPr>
        </p:sp>
        <p:sp>
          <p:nvSpPr>
            <p:cNvPr id="36" name="TextBox 36"/>
            <p:cNvSpPr txBox="1"/>
            <p:nvPr/>
          </p:nvSpPr>
          <p:spPr>
            <a:xfrm>
              <a:off x="9196697" y="140228"/>
              <a:ext cx="2657581" cy="1268890"/>
            </a:xfrm>
            <a:prstGeom prst="rect">
              <a:avLst/>
            </a:prstGeom>
          </p:spPr>
          <p:txBody>
            <a:bodyPr lIns="0" tIns="0" rIns="0" bIns="0" rtlCol="0" anchor="t">
              <a:spAutoFit/>
            </a:bodyPr>
            <a:lstStyle/>
            <a:p>
              <a:pPr algn="ctr">
                <a:lnSpc>
                  <a:spcPts val="3928"/>
                </a:lnSpc>
              </a:pPr>
              <a:r>
                <a:rPr lang="en-US" sz="2806" b="1">
                  <a:solidFill>
                    <a:srgbClr val="000000"/>
                  </a:solidFill>
                  <a:latin typeface="Canva Sans Bold"/>
                  <a:ea typeface="Canva Sans Bold"/>
                  <a:cs typeface="Canva Sans Bold"/>
                  <a:sym typeface="Canva Sans Bold"/>
                </a:rPr>
                <a:t>HAPTIC </a:t>
              </a:r>
            </a:p>
            <a:p>
              <a:pPr algn="ctr">
                <a:lnSpc>
                  <a:spcPts val="3928"/>
                </a:lnSpc>
              </a:pPr>
              <a:r>
                <a:rPr lang="en-US" sz="2806" b="1">
                  <a:solidFill>
                    <a:srgbClr val="000000"/>
                  </a:solidFill>
                  <a:latin typeface="Canva Sans Bold"/>
                  <a:ea typeface="Canva Sans Bold"/>
                  <a:cs typeface="Canva Sans Bold"/>
                  <a:sym typeface="Canva Sans Bold"/>
                </a:rPr>
                <a:t>MOTOR</a:t>
              </a:r>
            </a:p>
          </p:txBody>
        </p:sp>
      </p:grpSp>
      <p:grpSp>
        <p:nvGrpSpPr>
          <p:cNvPr id="37" name="Group 37"/>
          <p:cNvGrpSpPr/>
          <p:nvPr/>
        </p:nvGrpSpPr>
        <p:grpSpPr>
          <a:xfrm>
            <a:off x="10427992" y="5187327"/>
            <a:ext cx="7421881" cy="3699498"/>
            <a:chOff x="0" y="0"/>
            <a:chExt cx="9895841" cy="4932664"/>
          </a:xfrm>
        </p:grpSpPr>
        <p:sp>
          <p:nvSpPr>
            <p:cNvPr id="38" name="Freeform 38"/>
            <p:cNvSpPr/>
            <p:nvPr/>
          </p:nvSpPr>
          <p:spPr>
            <a:xfrm>
              <a:off x="0" y="0"/>
              <a:ext cx="9895841" cy="4932664"/>
            </a:xfrm>
            <a:custGeom>
              <a:avLst/>
              <a:gdLst/>
              <a:ahLst/>
              <a:cxnLst/>
              <a:rect l="l" t="t" r="r" b="b"/>
              <a:pathLst>
                <a:path w="9895841" h="4932664">
                  <a:moveTo>
                    <a:pt x="0" y="0"/>
                  </a:moveTo>
                  <a:lnTo>
                    <a:pt x="9895841" y="0"/>
                  </a:lnTo>
                  <a:lnTo>
                    <a:pt x="9895841" y="4932664"/>
                  </a:lnTo>
                  <a:lnTo>
                    <a:pt x="0" y="4932664"/>
                  </a:lnTo>
                  <a:lnTo>
                    <a:pt x="0" y="0"/>
                  </a:lnTo>
                  <a:close/>
                </a:path>
              </a:pathLst>
            </a:custGeom>
            <a:blipFill>
              <a:blip r:embed="rId6"/>
              <a:stretch>
                <a:fillRect t="-201116"/>
              </a:stretch>
            </a:blipFill>
          </p:spPr>
        </p:sp>
        <p:sp>
          <p:nvSpPr>
            <p:cNvPr id="39" name="AutoShape 39"/>
            <p:cNvSpPr/>
            <p:nvPr/>
          </p:nvSpPr>
          <p:spPr>
            <a:xfrm>
              <a:off x="7156264" y="763960"/>
              <a:ext cx="42643" cy="2331079"/>
            </a:xfrm>
            <a:prstGeom prst="line">
              <a:avLst/>
            </a:prstGeom>
            <a:ln w="27029" cap="flat">
              <a:solidFill>
                <a:srgbClr val="000000"/>
              </a:solidFill>
              <a:prstDash val="solid"/>
              <a:headEnd type="none" w="sm" len="sm"/>
              <a:tailEnd type="none" w="sm" len="sm"/>
            </a:ln>
          </p:spPr>
        </p:sp>
        <p:sp>
          <p:nvSpPr>
            <p:cNvPr id="40" name="AutoShape 40"/>
            <p:cNvSpPr/>
            <p:nvPr/>
          </p:nvSpPr>
          <p:spPr>
            <a:xfrm flipV="1">
              <a:off x="3362286" y="821099"/>
              <a:ext cx="3793977" cy="0"/>
            </a:xfrm>
            <a:prstGeom prst="line">
              <a:avLst/>
            </a:prstGeom>
            <a:ln w="27029" cap="flat">
              <a:solidFill>
                <a:srgbClr val="000000"/>
              </a:solidFill>
              <a:prstDash val="solid"/>
              <a:headEnd type="none" w="sm" len="sm"/>
              <a:tailEnd type="none" w="sm" len="sm"/>
            </a:ln>
          </p:spPr>
        </p:sp>
        <p:grpSp>
          <p:nvGrpSpPr>
            <p:cNvPr id="41" name="Group 41"/>
            <p:cNvGrpSpPr/>
            <p:nvPr/>
          </p:nvGrpSpPr>
          <p:grpSpPr>
            <a:xfrm>
              <a:off x="5925390" y="1600105"/>
              <a:ext cx="630042" cy="630042"/>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9050" cap="sq">
                <a:solidFill>
                  <a:srgbClr val="000000"/>
                </a:solidFill>
                <a:prstDash val="solid"/>
                <a:miter/>
              </a:ln>
            </p:spPr>
          </p:sp>
          <p:sp>
            <p:nvSpPr>
              <p:cNvPr id="43" name="TextBox 43"/>
              <p:cNvSpPr txBox="1"/>
              <p:nvPr/>
            </p:nvSpPr>
            <p:spPr>
              <a:xfrm>
                <a:off x="76200" y="47625"/>
                <a:ext cx="660400" cy="688975"/>
              </a:xfrm>
              <a:prstGeom prst="rect">
                <a:avLst/>
              </a:prstGeom>
            </p:spPr>
            <p:txBody>
              <a:bodyPr lIns="50800" tIns="50800" rIns="50800" bIns="50800" rtlCol="0" anchor="ctr"/>
              <a:lstStyle/>
              <a:p>
                <a:pPr algn="ctr">
                  <a:lnSpc>
                    <a:spcPts val="1959"/>
                  </a:lnSpc>
                  <a:spcBef>
                    <a:spcPct val="0"/>
                  </a:spcBef>
                </a:pPr>
                <a:endParaRPr/>
              </a:p>
            </p:txBody>
          </p:sp>
        </p:grpSp>
        <p:sp>
          <p:nvSpPr>
            <p:cNvPr id="44" name="TextBox 44"/>
            <p:cNvSpPr txBox="1"/>
            <p:nvPr/>
          </p:nvSpPr>
          <p:spPr>
            <a:xfrm>
              <a:off x="5925390" y="3758155"/>
              <a:ext cx="842960" cy="555766"/>
            </a:xfrm>
            <a:prstGeom prst="rect">
              <a:avLst/>
            </a:prstGeom>
          </p:spPr>
          <p:txBody>
            <a:bodyPr lIns="0" tIns="0" rIns="0" bIns="0" rtlCol="0" anchor="t">
              <a:spAutoFit/>
            </a:bodyPr>
            <a:lstStyle/>
            <a:p>
              <a:pPr algn="ctr">
                <a:lnSpc>
                  <a:spcPts val="3575"/>
                </a:lnSpc>
                <a:spcBef>
                  <a:spcPct val="0"/>
                </a:spcBef>
              </a:pPr>
              <a:r>
                <a:rPr lang="en-US" sz="2553" b="1">
                  <a:solidFill>
                    <a:srgbClr val="000000"/>
                  </a:solidFill>
                  <a:latin typeface="Canva Sans Bold"/>
                  <a:ea typeface="Canva Sans Bold"/>
                  <a:cs typeface="Canva Sans Bold"/>
                  <a:sym typeface="Canva Sans Bold"/>
                </a:rPr>
                <a:t>MIC</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7FF"/>
        </a:solidFill>
        <a:effectLst/>
      </p:bgPr>
    </p:bg>
    <p:spTree>
      <p:nvGrpSpPr>
        <p:cNvPr id="1" name=""/>
        <p:cNvGrpSpPr/>
        <p:nvPr/>
      </p:nvGrpSpPr>
      <p:grpSpPr>
        <a:xfrm>
          <a:off x="0" y="0"/>
          <a:ext cx="0" cy="0"/>
          <a:chOff x="0" y="0"/>
          <a:chExt cx="0" cy="0"/>
        </a:xfrm>
      </p:grpSpPr>
      <p:sp>
        <p:nvSpPr>
          <p:cNvPr id="2" name="Freeform 2"/>
          <p:cNvSpPr/>
          <p:nvPr/>
        </p:nvSpPr>
        <p:spPr>
          <a:xfrm rot="6357769">
            <a:off x="-4153285" y="1745788"/>
            <a:ext cx="11756667" cy="5682389"/>
          </a:xfrm>
          <a:custGeom>
            <a:avLst/>
            <a:gdLst/>
            <a:ahLst/>
            <a:cxnLst/>
            <a:rect l="l" t="t" r="r" b="b"/>
            <a:pathLst>
              <a:path w="11756667" h="5682389">
                <a:moveTo>
                  <a:pt x="0" y="0"/>
                </a:moveTo>
                <a:lnTo>
                  <a:pt x="11756667" y="0"/>
                </a:lnTo>
                <a:lnTo>
                  <a:pt x="11756667" y="5682389"/>
                </a:lnTo>
                <a:lnTo>
                  <a:pt x="0" y="5682389"/>
                </a:lnTo>
                <a:lnTo>
                  <a:pt x="0" y="0"/>
                </a:lnTo>
                <a:close/>
              </a:path>
            </a:pathLst>
          </a:custGeom>
          <a:blipFill>
            <a:blip r:embed="rId2">
              <a:alphaModFix amt="80000"/>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95018" y="304664"/>
            <a:ext cx="42698214" cy="9677673"/>
            <a:chOff x="0" y="0"/>
            <a:chExt cx="1892889" cy="429029"/>
          </a:xfrm>
        </p:grpSpPr>
        <p:sp>
          <p:nvSpPr>
            <p:cNvPr id="4" name="Freeform 4"/>
            <p:cNvSpPr/>
            <p:nvPr/>
          </p:nvSpPr>
          <p:spPr>
            <a:xfrm>
              <a:off x="0" y="0"/>
              <a:ext cx="1892889" cy="429029"/>
            </a:xfrm>
            <a:custGeom>
              <a:avLst/>
              <a:gdLst/>
              <a:ahLst/>
              <a:cxnLst/>
              <a:rect l="l" t="t" r="r" b="b"/>
              <a:pathLst>
                <a:path w="1892889" h="429029">
                  <a:moveTo>
                    <a:pt x="1689689" y="0"/>
                  </a:moveTo>
                  <a:cubicBezTo>
                    <a:pt x="1801913" y="0"/>
                    <a:pt x="1892889" y="96041"/>
                    <a:pt x="1892889" y="214514"/>
                  </a:cubicBezTo>
                  <a:cubicBezTo>
                    <a:pt x="1892889" y="332987"/>
                    <a:pt x="1801913" y="429029"/>
                    <a:pt x="1689689" y="429029"/>
                  </a:cubicBezTo>
                  <a:lnTo>
                    <a:pt x="203200" y="429029"/>
                  </a:lnTo>
                  <a:cubicBezTo>
                    <a:pt x="90976" y="429029"/>
                    <a:pt x="0" y="332987"/>
                    <a:pt x="0" y="214514"/>
                  </a:cubicBezTo>
                  <a:cubicBezTo>
                    <a:pt x="0" y="96041"/>
                    <a:pt x="90976" y="0"/>
                    <a:pt x="203200" y="0"/>
                  </a:cubicBezTo>
                  <a:close/>
                </a:path>
              </a:pathLst>
            </a:custGeom>
            <a:solidFill>
              <a:srgbClr val="10316B"/>
            </a:solidFill>
            <a:ln cap="sq">
              <a:noFill/>
              <a:prstDash val="solid"/>
              <a:miter/>
            </a:ln>
          </p:spPr>
        </p:sp>
        <p:sp>
          <p:nvSpPr>
            <p:cNvPr id="5" name="TextBox 5"/>
            <p:cNvSpPr txBox="1"/>
            <p:nvPr/>
          </p:nvSpPr>
          <p:spPr>
            <a:xfrm>
              <a:off x="0" y="-57150"/>
              <a:ext cx="1892889" cy="486179"/>
            </a:xfrm>
            <a:prstGeom prst="rect">
              <a:avLst/>
            </a:prstGeom>
          </p:spPr>
          <p:txBody>
            <a:bodyPr lIns="50800" tIns="50800" rIns="50800" bIns="50800" rtlCol="0" anchor="ctr"/>
            <a:lstStyle/>
            <a:p>
              <a:pPr algn="ctr">
                <a:lnSpc>
                  <a:spcPts val="3511"/>
                </a:lnSpc>
              </a:pPr>
              <a:endParaRPr/>
            </a:p>
          </p:txBody>
        </p:sp>
      </p:grpSp>
      <p:sp>
        <p:nvSpPr>
          <p:cNvPr id="6" name="TextBox 6"/>
          <p:cNvSpPr txBox="1"/>
          <p:nvPr/>
        </p:nvSpPr>
        <p:spPr>
          <a:xfrm>
            <a:off x="17417618" y="1057275"/>
            <a:ext cx="416972" cy="8724265"/>
          </a:xfrm>
          <a:prstGeom prst="rect">
            <a:avLst/>
          </a:prstGeom>
        </p:spPr>
        <p:txBody>
          <a:bodyPr lIns="0" tIns="0" rIns="0" bIns="0" rtlCol="0" anchor="t">
            <a:spAutoFit/>
          </a:bodyPr>
          <a:lstStyle/>
          <a:p>
            <a:pPr algn="l">
              <a:lnSpc>
                <a:spcPts val="5719"/>
              </a:lnSpc>
            </a:pPr>
            <a:r>
              <a:rPr lang="en-US" sz="5199" spc="259">
                <a:solidFill>
                  <a:srgbClr val="F2F7FF"/>
                </a:solidFill>
                <a:latin typeface="Archivo Black"/>
                <a:ea typeface="Archivo Black"/>
                <a:cs typeface="Archivo Black"/>
                <a:sym typeface="Archivo Black"/>
              </a:rPr>
              <a:t>METHODOLOGY</a:t>
            </a:r>
          </a:p>
          <a:p>
            <a:pPr marL="0" lvl="0" indent="0" algn="l">
              <a:lnSpc>
                <a:spcPts val="5719"/>
              </a:lnSpc>
            </a:pPr>
            <a:endParaRPr lang="en-US" sz="5199" spc="259">
              <a:solidFill>
                <a:srgbClr val="F2F7FF"/>
              </a:solidFill>
              <a:latin typeface="Archivo Black"/>
              <a:ea typeface="Archivo Black"/>
              <a:cs typeface="Archivo Black"/>
              <a:sym typeface="Archivo Black"/>
            </a:endParaRPr>
          </a:p>
        </p:txBody>
      </p:sp>
      <p:sp>
        <p:nvSpPr>
          <p:cNvPr id="7" name="TextBox 7"/>
          <p:cNvSpPr txBox="1"/>
          <p:nvPr/>
        </p:nvSpPr>
        <p:spPr>
          <a:xfrm>
            <a:off x="7127754" y="1853849"/>
            <a:ext cx="5932940" cy="6680835"/>
          </a:xfrm>
          <a:prstGeom prst="rect">
            <a:avLst/>
          </a:prstGeom>
        </p:spPr>
        <p:txBody>
          <a:bodyPr lIns="0" tIns="0" rIns="0" bIns="0" rtlCol="0" anchor="t">
            <a:spAutoFit/>
          </a:bodyPr>
          <a:lstStyle/>
          <a:p>
            <a:pPr marL="453392" lvl="1" indent="-226696" algn="ctr">
              <a:lnSpc>
                <a:spcPts val="2940"/>
              </a:lnSpc>
              <a:buFont typeface="Arial"/>
              <a:buChar char="•"/>
            </a:pPr>
            <a:r>
              <a:rPr lang="en-US" sz="2100" spc="420">
                <a:solidFill>
                  <a:srgbClr val="F2F7FF"/>
                </a:solidFill>
                <a:latin typeface="Inter"/>
                <a:ea typeface="Inter"/>
                <a:cs typeface="Inter"/>
                <a:sym typeface="Inter"/>
              </a:rPr>
              <a:t>Sensor Calibration:</a:t>
            </a:r>
          </a:p>
          <a:p>
            <a:pPr algn="ctr">
              <a:lnSpc>
                <a:spcPts val="2940"/>
              </a:lnSpc>
            </a:pPr>
            <a:r>
              <a:rPr lang="en-US" sz="2100" spc="420">
                <a:solidFill>
                  <a:srgbClr val="F2F7FF"/>
                </a:solidFill>
                <a:latin typeface="Inter"/>
                <a:ea typeface="Inter"/>
                <a:cs typeface="Inter"/>
                <a:sym typeface="Inter"/>
              </a:rPr>
              <a:t>Calibrate flex sensors, hall effect sensors, and MPU6050 IMU to normalize readings and ensure consistency across users.</a:t>
            </a:r>
          </a:p>
          <a:p>
            <a:pPr marL="453392" lvl="1" indent="-226696" algn="ctr">
              <a:lnSpc>
                <a:spcPts val="2940"/>
              </a:lnSpc>
              <a:buFont typeface="Arial"/>
              <a:buChar char="•"/>
            </a:pPr>
            <a:r>
              <a:rPr lang="en-US" sz="2100" spc="420">
                <a:solidFill>
                  <a:srgbClr val="F2F7FF"/>
                </a:solidFill>
                <a:latin typeface="Inter"/>
                <a:ea typeface="Inter"/>
                <a:cs typeface="Inter"/>
                <a:sym typeface="Inter"/>
              </a:rPr>
              <a:t>Data Collection:</a:t>
            </a:r>
          </a:p>
          <a:p>
            <a:pPr algn="ctr">
              <a:lnSpc>
                <a:spcPts val="2940"/>
              </a:lnSpc>
            </a:pPr>
            <a:r>
              <a:rPr lang="en-US" sz="2100" spc="420">
                <a:solidFill>
                  <a:srgbClr val="F2F7FF"/>
                </a:solidFill>
                <a:latin typeface="Inter"/>
                <a:ea typeface="Inter"/>
                <a:cs typeface="Inter"/>
                <a:sym typeface="Inter"/>
              </a:rPr>
              <a:t>Collect a diverse dataset of hand gestures from multiple users to train machine learning models effectively.</a:t>
            </a:r>
          </a:p>
          <a:p>
            <a:pPr marL="453392" lvl="1" indent="-226696" algn="ctr">
              <a:lnSpc>
                <a:spcPts val="2940"/>
              </a:lnSpc>
              <a:buFont typeface="Arial"/>
              <a:buChar char="•"/>
            </a:pPr>
            <a:r>
              <a:rPr lang="en-US" sz="2100" spc="420">
                <a:solidFill>
                  <a:srgbClr val="F2F7FF"/>
                </a:solidFill>
                <a:latin typeface="Inter"/>
                <a:ea typeface="Inter"/>
                <a:cs typeface="Inter"/>
                <a:sym typeface="Inter"/>
              </a:rPr>
              <a:t>Embedded Machine Learning:</a:t>
            </a:r>
          </a:p>
          <a:p>
            <a:pPr algn="ctr">
              <a:lnSpc>
                <a:spcPts val="2940"/>
              </a:lnSpc>
            </a:pPr>
            <a:r>
              <a:rPr lang="en-US" sz="2100" spc="420">
                <a:solidFill>
                  <a:srgbClr val="F2F7FF"/>
                </a:solidFill>
                <a:latin typeface="Inter"/>
                <a:ea typeface="Inter"/>
                <a:cs typeface="Inter"/>
                <a:sym typeface="Inter"/>
              </a:rPr>
              <a:t>Deploy a lightweight AI model on the ESP32-S3 to classify gestures in real-time. Convert speech input into Morse code for haptic feedback via a vibromotor.</a:t>
            </a:r>
          </a:p>
          <a:p>
            <a:pPr algn="ctr">
              <a:lnSpc>
                <a:spcPts val="2940"/>
              </a:lnSpc>
            </a:pPr>
            <a:endParaRPr lang="en-US" sz="2100" spc="420">
              <a:solidFill>
                <a:srgbClr val="F2F7FF"/>
              </a:solidFill>
              <a:latin typeface="Inter"/>
              <a:ea typeface="Inter"/>
              <a:cs typeface="Inter"/>
              <a:sym typeface="Inter"/>
            </a:endParaRPr>
          </a:p>
        </p:txBody>
      </p:sp>
      <p:grpSp>
        <p:nvGrpSpPr>
          <p:cNvPr id="8" name="Group 8"/>
          <p:cNvGrpSpPr/>
          <p:nvPr/>
        </p:nvGrpSpPr>
        <p:grpSpPr>
          <a:xfrm>
            <a:off x="3078425" y="1901474"/>
            <a:ext cx="2994884" cy="6958450"/>
            <a:chOff x="0" y="0"/>
            <a:chExt cx="3993179" cy="9277933"/>
          </a:xfrm>
        </p:grpSpPr>
        <p:grpSp>
          <p:nvGrpSpPr>
            <p:cNvPr id="9" name="Group 9"/>
            <p:cNvGrpSpPr/>
            <p:nvPr/>
          </p:nvGrpSpPr>
          <p:grpSpPr>
            <a:xfrm>
              <a:off x="0" y="0"/>
              <a:ext cx="3993179" cy="1339806"/>
              <a:chOff x="0" y="0"/>
              <a:chExt cx="888961" cy="298265"/>
            </a:xfrm>
          </p:grpSpPr>
          <p:sp>
            <p:nvSpPr>
              <p:cNvPr id="10" name="Freeform 10"/>
              <p:cNvSpPr/>
              <p:nvPr/>
            </p:nvSpPr>
            <p:spPr>
              <a:xfrm>
                <a:off x="0" y="0"/>
                <a:ext cx="888961" cy="298265"/>
              </a:xfrm>
              <a:custGeom>
                <a:avLst/>
                <a:gdLst/>
                <a:ahLst/>
                <a:cxnLst/>
                <a:rect l="l" t="t" r="r" b="b"/>
                <a:pathLst>
                  <a:path w="888961" h="298265">
                    <a:moveTo>
                      <a:pt x="888961" y="145124"/>
                    </a:moveTo>
                    <a:lnTo>
                      <a:pt x="888961" y="153141"/>
                    </a:lnTo>
                    <a:cubicBezTo>
                      <a:pt x="888961" y="233291"/>
                      <a:pt x="823986" y="298265"/>
                      <a:pt x="743837" y="298265"/>
                    </a:cubicBezTo>
                    <a:lnTo>
                      <a:pt x="145124" y="298265"/>
                    </a:lnTo>
                    <a:cubicBezTo>
                      <a:pt x="64974" y="298265"/>
                      <a:pt x="0" y="233291"/>
                      <a:pt x="0" y="153141"/>
                    </a:cubicBezTo>
                    <a:lnTo>
                      <a:pt x="0" y="145124"/>
                    </a:lnTo>
                    <a:cubicBezTo>
                      <a:pt x="0" y="64974"/>
                      <a:pt x="64974" y="0"/>
                      <a:pt x="145124" y="0"/>
                    </a:cubicBezTo>
                    <a:lnTo>
                      <a:pt x="743837" y="0"/>
                    </a:lnTo>
                    <a:cubicBezTo>
                      <a:pt x="823986" y="0"/>
                      <a:pt x="888961" y="64974"/>
                      <a:pt x="888961" y="145124"/>
                    </a:cubicBezTo>
                    <a:close/>
                  </a:path>
                </a:pathLst>
              </a:custGeom>
              <a:solidFill>
                <a:srgbClr val="000000">
                  <a:alpha val="0"/>
                </a:srgbClr>
              </a:solidFill>
              <a:ln w="19050" cap="sq">
                <a:solidFill>
                  <a:srgbClr val="FFFFFF"/>
                </a:solidFill>
                <a:prstDash val="solid"/>
                <a:miter/>
              </a:ln>
            </p:spPr>
          </p:sp>
          <p:sp>
            <p:nvSpPr>
              <p:cNvPr id="11" name="TextBox 11"/>
              <p:cNvSpPr txBox="1"/>
              <p:nvPr/>
            </p:nvSpPr>
            <p:spPr>
              <a:xfrm>
                <a:off x="0" y="-38100"/>
                <a:ext cx="888961" cy="336365"/>
              </a:xfrm>
              <a:prstGeom prst="rect">
                <a:avLst/>
              </a:prstGeom>
            </p:spPr>
            <p:txBody>
              <a:bodyPr lIns="20759" tIns="20759" rIns="20759" bIns="20759" rtlCol="0" anchor="ctr"/>
              <a:lstStyle/>
              <a:p>
                <a:pPr algn="ctr">
                  <a:lnSpc>
                    <a:spcPts val="2698"/>
                  </a:lnSpc>
                </a:pPr>
                <a:endParaRPr/>
              </a:p>
            </p:txBody>
          </p:sp>
        </p:grpSp>
        <p:sp>
          <p:nvSpPr>
            <p:cNvPr id="12" name="TextBox 12"/>
            <p:cNvSpPr txBox="1"/>
            <p:nvPr/>
          </p:nvSpPr>
          <p:spPr>
            <a:xfrm>
              <a:off x="183923" y="165966"/>
              <a:ext cx="3540790" cy="976562"/>
            </a:xfrm>
            <a:prstGeom prst="rect">
              <a:avLst/>
            </a:prstGeom>
          </p:spPr>
          <p:txBody>
            <a:bodyPr lIns="0" tIns="0" rIns="0" bIns="0" rtlCol="0" anchor="t">
              <a:spAutoFit/>
            </a:bodyPr>
            <a:lstStyle/>
            <a:p>
              <a:pPr algn="ctr">
                <a:lnSpc>
                  <a:spcPts val="3042"/>
                </a:lnSpc>
              </a:pPr>
              <a:r>
                <a:rPr lang="en-US" sz="2173" b="1">
                  <a:solidFill>
                    <a:srgbClr val="FFFFFF"/>
                  </a:solidFill>
                  <a:latin typeface="Canva Sans Bold"/>
                  <a:ea typeface="Canva Sans Bold"/>
                  <a:cs typeface="Canva Sans Bold"/>
                  <a:sym typeface="Canva Sans Bold"/>
                </a:rPr>
                <a:t>Input: Normalized Gesture Data</a:t>
              </a:r>
            </a:p>
          </p:txBody>
        </p:sp>
        <p:grpSp>
          <p:nvGrpSpPr>
            <p:cNvPr id="13" name="Group 13"/>
            <p:cNvGrpSpPr/>
            <p:nvPr/>
          </p:nvGrpSpPr>
          <p:grpSpPr>
            <a:xfrm>
              <a:off x="0" y="2341250"/>
              <a:ext cx="3993179" cy="881947"/>
              <a:chOff x="0" y="0"/>
              <a:chExt cx="888961" cy="196337"/>
            </a:xfrm>
          </p:grpSpPr>
          <p:sp>
            <p:nvSpPr>
              <p:cNvPr id="14" name="Freeform 14"/>
              <p:cNvSpPr/>
              <p:nvPr/>
            </p:nvSpPr>
            <p:spPr>
              <a:xfrm>
                <a:off x="0" y="0"/>
                <a:ext cx="888961" cy="196337"/>
              </a:xfrm>
              <a:custGeom>
                <a:avLst/>
                <a:gdLst/>
                <a:ahLst/>
                <a:cxnLst/>
                <a:rect l="l" t="t" r="r" b="b"/>
                <a:pathLst>
                  <a:path w="888961" h="196337">
                    <a:moveTo>
                      <a:pt x="888961" y="98169"/>
                    </a:moveTo>
                    <a:lnTo>
                      <a:pt x="888961" y="98169"/>
                    </a:lnTo>
                    <a:cubicBezTo>
                      <a:pt x="888961" y="124205"/>
                      <a:pt x="878618" y="149174"/>
                      <a:pt x="860208" y="167584"/>
                    </a:cubicBezTo>
                    <a:cubicBezTo>
                      <a:pt x="841797" y="185994"/>
                      <a:pt x="816828" y="196337"/>
                      <a:pt x="790792" y="196337"/>
                    </a:cubicBezTo>
                    <a:lnTo>
                      <a:pt x="98169" y="196337"/>
                    </a:lnTo>
                    <a:cubicBezTo>
                      <a:pt x="72133" y="196337"/>
                      <a:pt x="47163" y="185994"/>
                      <a:pt x="28753" y="167584"/>
                    </a:cubicBezTo>
                    <a:cubicBezTo>
                      <a:pt x="10343" y="149174"/>
                      <a:pt x="0" y="124205"/>
                      <a:pt x="0" y="98169"/>
                    </a:cubicBezTo>
                    <a:lnTo>
                      <a:pt x="0" y="98169"/>
                    </a:lnTo>
                    <a:cubicBezTo>
                      <a:pt x="0" y="72133"/>
                      <a:pt x="10343" y="47163"/>
                      <a:pt x="28753" y="28753"/>
                    </a:cubicBezTo>
                    <a:cubicBezTo>
                      <a:pt x="47163" y="10343"/>
                      <a:pt x="72133" y="0"/>
                      <a:pt x="98169" y="0"/>
                    </a:cubicBezTo>
                    <a:lnTo>
                      <a:pt x="790792" y="0"/>
                    </a:lnTo>
                    <a:cubicBezTo>
                      <a:pt x="816828" y="0"/>
                      <a:pt x="841797" y="10343"/>
                      <a:pt x="860208" y="28753"/>
                    </a:cubicBezTo>
                    <a:cubicBezTo>
                      <a:pt x="878618" y="47163"/>
                      <a:pt x="888961" y="72133"/>
                      <a:pt x="888961" y="98169"/>
                    </a:cubicBezTo>
                    <a:close/>
                  </a:path>
                </a:pathLst>
              </a:custGeom>
              <a:solidFill>
                <a:srgbClr val="000000">
                  <a:alpha val="0"/>
                </a:srgbClr>
              </a:solidFill>
              <a:ln w="19050" cap="sq">
                <a:solidFill>
                  <a:srgbClr val="FFFFFF"/>
                </a:solidFill>
                <a:prstDash val="solid"/>
                <a:miter/>
              </a:ln>
            </p:spPr>
          </p:sp>
          <p:sp>
            <p:nvSpPr>
              <p:cNvPr id="15" name="TextBox 15"/>
              <p:cNvSpPr txBox="1"/>
              <p:nvPr/>
            </p:nvSpPr>
            <p:spPr>
              <a:xfrm>
                <a:off x="0" y="-38100"/>
                <a:ext cx="888961" cy="234437"/>
              </a:xfrm>
              <a:prstGeom prst="rect">
                <a:avLst/>
              </a:prstGeom>
            </p:spPr>
            <p:txBody>
              <a:bodyPr lIns="20759" tIns="20759" rIns="20759" bIns="20759" rtlCol="0" anchor="ctr"/>
              <a:lstStyle/>
              <a:p>
                <a:pPr algn="ctr">
                  <a:lnSpc>
                    <a:spcPts val="2698"/>
                  </a:lnSpc>
                </a:pPr>
                <a:endParaRPr/>
              </a:p>
            </p:txBody>
          </p:sp>
        </p:grpSp>
        <p:sp>
          <p:nvSpPr>
            <p:cNvPr id="16" name="AutoShape 16"/>
            <p:cNvSpPr/>
            <p:nvPr/>
          </p:nvSpPr>
          <p:spPr>
            <a:xfrm>
              <a:off x="1996590" y="1339800"/>
              <a:ext cx="0" cy="1001454"/>
            </a:xfrm>
            <a:prstGeom prst="line">
              <a:avLst/>
            </a:prstGeom>
            <a:ln w="75050" cap="flat">
              <a:solidFill>
                <a:srgbClr val="FFFFFF"/>
              </a:solidFill>
              <a:prstDash val="solid"/>
              <a:headEnd type="none" w="sm" len="sm"/>
              <a:tailEnd type="arrow" w="med" len="sm"/>
            </a:ln>
          </p:spPr>
        </p:sp>
        <p:sp>
          <p:nvSpPr>
            <p:cNvPr id="17" name="TextBox 17"/>
            <p:cNvSpPr txBox="1"/>
            <p:nvPr/>
          </p:nvSpPr>
          <p:spPr>
            <a:xfrm>
              <a:off x="183923" y="2527910"/>
              <a:ext cx="3540790" cy="473458"/>
            </a:xfrm>
            <a:prstGeom prst="rect">
              <a:avLst/>
            </a:prstGeom>
          </p:spPr>
          <p:txBody>
            <a:bodyPr lIns="0" tIns="0" rIns="0" bIns="0" rtlCol="0" anchor="t">
              <a:spAutoFit/>
            </a:bodyPr>
            <a:lstStyle/>
            <a:p>
              <a:pPr algn="ctr">
                <a:lnSpc>
                  <a:spcPts val="3042"/>
                </a:lnSpc>
              </a:pPr>
              <a:r>
                <a:rPr lang="en-US" sz="2173" b="1">
                  <a:solidFill>
                    <a:srgbClr val="FFFFFF"/>
                  </a:solidFill>
                  <a:latin typeface="Canva Sans Bold"/>
                  <a:ea typeface="Canva Sans Bold"/>
                  <a:cs typeface="Canva Sans Bold"/>
                  <a:sym typeface="Canva Sans Bold"/>
                </a:rPr>
                <a:t>Feature Extraction</a:t>
              </a:r>
            </a:p>
          </p:txBody>
        </p:sp>
        <p:grpSp>
          <p:nvGrpSpPr>
            <p:cNvPr id="18" name="Group 18"/>
            <p:cNvGrpSpPr/>
            <p:nvPr/>
          </p:nvGrpSpPr>
          <p:grpSpPr>
            <a:xfrm>
              <a:off x="0" y="4419064"/>
              <a:ext cx="3993179" cy="1947202"/>
              <a:chOff x="0" y="0"/>
              <a:chExt cx="888961" cy="433482"/>
            </a:xfrm>
          </p:grpSpPr>
          <p:sp>
            <p:nvSpPr>
              <p:cNvPr id="19" name="Freeform 19"/>
              <p:cNvSpPr/>
              <p:nvPr/>
            </p:nvSpPr>
            <p:spPr>
              <a:xfrm>
                <a:off x="0" y="0"/>
                <a:ext cx="888961" cy="433482"/>
              </a:xfrm>
              <a:custGeom>
                <a:avLst/>
                <a:gdLst/>
                <a:ahLst/>
                <a:cxnLst/>
                <a:rect l="l" t="t" r="r" b="b"/>
                <a:pathLst>
                  <a:path w="888961" h="433482">
                    <a:moveTo>
                      <a:pt x="888961" y="145124"/>
                    </a:moveTo>
                    <a:lnTo>
                      <a:pt x="888961" y="288358"/>
                    </a:lnTo>
                    <a:cubicBezTo>
                      <a:pt x="888961" y="368508"/>
                      <a:pt x="823986" y="433482"/>
                      <a:pt x="743837" y="433482"/>
                    </a:cubicBezTo>
                    <a:lnTo>
                      <a:pt x="145124" y="433482"/>
                    </a:lnTo>
                    <a:cubicBezTo>
                      <a:pt x="64974" y="433482"/>
                      <a:pt x="0" y="368508"/>
                      <a:pt x="0" y="288358"/>
                    </a:cubicBezTo>
                    <a:lnTo>
                      <a:pt x="0" y="145124"/>
                    </a:lnTo>
                    <a:cubicBezTo>
                      <a:pt x="0" y="64974"/>
                      <a:pt x="64974" y="0"/>
                      <a:pt x="145124" y="0"/>
                    </a:cubicBezTo>
                    <a:lnTo>
                      <a:pt x="743837" y="0"/>
                    </a:lnTo>
                    <a:cubicBezTo>
                      <a:pt x="823986" y="0"/>
                      <a:pt x="888961" y="64974"/>
                      <a:pt x="888961" y="145124"/>
                    </a:cubicBezTo>
                    <a:close/>
                  </a:path>
                </a:pathLst>
              </a:custGeom>
              <a:solidFill>
                <a:srgbClr val="000000">
                  <a:alpha val="0"/>
                </a:srgbClr>
              </a:solidFill>
              <a:ln w="19050" cap="sq">
                <a:solidFill>
                  <a:srgbClr val="FFFFFF"/>
                </a:solidFill>
                <a:prstDash val="solid"/>
                <a:miter/>
              </a:ln>
            </p:spPr>
          </p:sp>
          <p:sp>
            <p:nvSpPr>
              <p:cNvPr id="20" name="TextBox 20"/>
              <p:cNvSpPr txBox="1"/>
              <p:nvPr/>
            </p:nvSpPr>
            <p:spPr>
              <a:xfrm>
                <a:off x="0" y="-38100"/>
                <a:ext cx="888961" cy="471582"/>
              </a:xfrm>
              <a:prstGeom prst="rect">
                <a:avLst/>
              </a:prstGeom>
            </p:spPr>
            <p:txBody>
              <a:bodyPr lIns="20759" tIns="20759" rIns="20759" bIns="20759" rtlCol="0" anchor="ctr"/>
              <a:lstStyle/>
              <a:p>
                <a:pPr algn="ctr">
                  <a:lnSpc>
                    <a:spcPts val="2698"/>
                  </a:lnSpc>
                </a:pPr>
                <a:endParaRPr/>
              </a:p>
            </p:txBody>
          </p:sp>
        </p:grpSp>
        <p:sp>
          <p:nvSpPr>
            <p:cNvPr id="21" name="AutoShape 21"/>
            <p:cNvSpPr/>
            <p:nvPr/>
          </p:nvSpPr>
          <p:spPr>
            <a:xfrm>
              <a:off x="1996590" y="3223194"/>
              <a:ext cx="0" cy="1195878"/>
            </a:xfrm>
            <a:prstGeom prst="line">
              <a:avLst/>
            </a:prstGeom>
            <a:ln w="75050" cap="flat">
              <a:solidFill>
                <a:srgbClr val="FFFFFF"/>
              </a:solidFill>
              <a:prstDash val="solid"/>
              <a:headEnd type="none" w="sm" len="sm"/>
              <a:tailEnd type="arrow" w="med" len="sm"/>
            </a:ln>
          </p:spPr>
        </p:sp>
        <p:sp>
          <p:nvSpPr>
            <p:cNvPr id="22" name="TextBox 22"/>
            <p:cNvSpPr txBox="1"/>
            <p:nvPr/>
          </p:nvSpPr>
          <p:spPr>
            <a:xfrm>
              <a:off x="183923" y="4614307"/>
              <a:ext cx="3540790" cy="1491388"/>
            </a:xfrm>
            <a:prstGeom prst="rect">
              <a:avLst/>
            </a:prstGeom>
          </p:spPr>
          <p:txBody>
            <a:bodyPr lIns="0" tIns="0" rIns="0" bIns="0" rtlCol="0" anchor="t">
              <a:spAutoFit/>
            </a:bodyPr>
            <a:lstStyle/>
            <a:p>
              <a:pPr algn="ctr">
                <a:lnSpc>
                  <a:spcPts val="3042"/>
                </a:lnSpc>
              </a:pPr>
              <a:r>
                <a:rPr lang="en-US" sz="2173" b="1">
                  <a:solidFill>
                    <a:srgbClr val="FFFFFF"/>
                  </a:solidFill>
                  <a:latin typeface="Canva Sans Bold"/>
                  <a:ea typeface="Canva Sans Bold"/>
                  <a:cs typeface="Canva Sans Bold"/>
                  <a:sym typeface="Canva Sans Bold"/>
                </a:rPr>
                <a:t>ML/AI Model (Gesture Classification)</a:t>
              </a:r>
            </a:p>
          </p:txBody>
        </p:sp>
        <p:grpSp>
          <p:nvGrpSpPr>
            <p:cNvPr id="23" name="Group 23"/>
            <p:cNvGrpSpPr/>
            <p:nvPr/>
          </p:nvGrpSpPr>
          <p:grpSpPr>
            <a:xfrm>
              <a:off x="0" y="7562132"/>
              <a:ext cx="3993179" cy="1498021"/>
              <a:chOff x="0" y="0"/>
              <a:chExt cx="888961" cy="333486"/>
            </a:xfrm>
          </p:grpSpPr>
          <p:sp>
            <p:nvSpPr>
              <p:cNvPr id="24" name="Freeform 24"/>
              <p:cNvSpPr/>
              <p:nvPr/>
            </p:nvSpPr>
            <p:spPr>
              <a:xfrm>
                <a:off x="0" y="0"/>
                <a:ext cx="888961" cy="333486"/>
              </a:xfrm>
              <a:custGeom>
                <a:avLst/>
                <a:gdLst/>
                <a:ahLst/>
                <a:cxnLst/>
                <a:rect l="l" t="t" r="r" b="b"/>
                <a:pathLst>
                  <a:path w="888961" h="333486">
                    <a:moveTo>
                      <a:pt x="888961" y="145124"/>
                    </a:moveTo>
                    <a:lnTo>
                      <a:pt x="888961" y="188362"/>
                    </a:lnTo>
                    <a:cubicBezTo>
                      <a:pt x="888961" y="268512"/>
                      <a:pt x="823986" y="333486"/>
                      <a:pt x="743837" y="333486"/>
                    </a:cubicBezTo>
                    <a:lnTo>
                      <a:pt x="145124" y="333486"/>
                    </a:lnTo>
                    <a:cubicBezTo>
                      <a:pt x="64974" y="333486"/>
                      <a:pt x="0" y="268512"/>
                      <a:pt x="0" y="188362"/>
                    </a:cubicBezTo>
                    <a:lnTo>
                      <a:pt x="0" y="145124"/>
                    </a:lnTo>
                    <a:cubicBezTo>
                      <a:pt x="0" y="64974"/>
                      <a:pt x="64974" y="0"/>
                      <a:pt x="145124" y="0"/>
                    </a:cubicBezTo>
                    <a:lnTo>
                      <a:pt x="743837" y="0"/>
                    </a:lnTo>
                    <a:cubicBezTo>
                      <a:pt x="823986" y="0"/>
                      <a:pt x="888961" y="64974"/>
                      <a:pt x="888961" y="145124"/>
                    </a:cubicBezTo>
                    <a:close/>
                  </a:path>
                </a:pathLst>
              </a:custGeom>
              <a:solidFill>
                <a:srgbClr val="000000">
                  <a:alpha val="0"/>
                </a:srgbClr>
              </a:solidFill>
              <a:ln w="19050" cap="sq">
                <a:solidFill>
                  <a:srgbClr val="FFFFFF"/>
                </a:solidFill>
                <a:prstDash val="solid"/>
                <a:miter/>
              </a:ln>
            </p:spPr>
          </p:sp>
          <p:sp>
            <p:nvSpPr>
              <p:cNvPr id="25" name="TextBox 25"/>
              <p:cNvSpPr txBox="1"/>
              <p:nvPr/>
            </p:nvSpPr>
            <p:spPr>
              <a:xfrm>
                <a:off x="0" y="-38100"/>
                <a:ext cx="888961" cy="371586"/>
              </a:xfrm>
              <a:prstGeom prst="rect">
                <a:avLst/>
              </a:prstGeom>
            </p:spPr>
            <p:txBody>
              <a:bodyPr lIns="20759" tIns="20759" rIns="20759" bIns="20759" rtlCol="0" anchor="ctr"/>
              <a:lstStyle/>
              <a:p>
                <a:pPr algn="ctr">
                  <a:lnSpc>
                    <a:spcPts val="2698"/>
                  </a:lnSpc>
                </a:pPr>
                <a:endParaRPr/>
              </a:p>
            </p:txBody>
          </p:sp>
        </p:grpSp>
        <p:sp>
          <p:nvSpPr>
            <p:cNvPr id="26" name="AutoShape 26"/>
            <p:cNvSpPr/>
            <p:nvPr/>
          </p:nvSpPr>
          <p:spPr>
            <a:xfrm>
              <a:off x="1996590" y="6366258"/>
              <a:ext cx="0" cy="1195881"/>
            </a:xfrm>
            <a:prstGeom prst="line">
              <a:avLst/>
            </a:prstGeom>
            <a:ln w="75050" cap="flat">
              <a:solidFill>
                <a:srgbClr val="FFFFFF"/>
              </a:solidFill>
              <a:prstDash val="solid"/>
              <a:headEnd type="none" w="sm" len="sm"/>
              <a:tailEnd type="arrow" w="med" len="sm"/>
            </a:ln>
          </p:spPr>
        </p:sp>
        <p:sp>
          <p:nvSpPr>
            <p:cNvPr id="27" name="TextBox 27"/>
            <p:cNvSpPr txBox="1"/>
            <p:nvPr/>
          </p:nvSpPr>
          <p:spPr>
            <a:xfrm>
              <a:off x="183923" y="7786546"/>
              <a:ext cx="3540790" cy="1491388"/>
            </a:xfrm>
            <a:prstGeom prst="rect">
              <a:avLst/>
            </a:prstGeom>
          </p:spPr>
          <p:txBody>
            <a:bodyPr lIns="0" tIns="0" rIns="0" bIns="0" rtlCol="0" anchor="t">
              <a:spAutoFit/>
            </a:bodyPr>
            <a:lstStyle/>
            <a:p>
              <a:pPr algn="ctr">
                <a:lnSpc>
                  <a:spcPts val="3042"/>
                </a:lnSpc>
              </a:pPr>
              <a:r>
                <a:rPr lang="en-US" sz="2173" b="1">
                  <a:solidFill>
                    <a:srgbClr val="FFFFFF"/>
                  </a:solidFill>
                  <a:latin typeface="Canva Sans Bold"/>
                  <a:ea typeface="Canva Sans Bold"/>
                  <a:cs typeface="Canva Sans Bold"/>
                  <a:sym typeface="Canva Sans Bold"/>
                </a:rPr>
                <a:t>Output: Recognized Word or Phrase</a:t>
              </a:r>
            </a:p>
            <a:p>
              <a:pPr algn="ctr">
                <a:lnSpc>
                  <a:spcPts val="3042"/>
                </a:lnSpc>
              </a:pPr>
              <a:endParaRPr lang="en-US" sz="2173" b="1">
                <a:solidFill>
                  <a:srgbClr val="FFFFFF"/>
                </a:solidFill>
                <a:latin typeface="Canva Sans Bold"/>
                <a:ea typeface="Canva Sans Bold"/>
                <a:cs typeface="Canva Sans Bold"/>
                <a:sym typeface="Canva Sans Bold"/>
              </a:endParaRPr>
            </a:p>
          </p:txBody>
        </p:sp>
      </p:grpSp>
      <p:grpSp>
        <p:nvGrpSpPr>
          <p:cNvPr id="28" name="Group 28"/>
          <p:cNvGrpSpPr/>
          <p:nvPr/>
        </p:nvGrpSpPr>
        <p:grpSpPr>
          <a:xfrm>
            <a:off x="13543747" y="1916058"/>
            <a:ext cx="3390817" cy="6978124"/>
            <a:chOff x="0" y="0"/>
            <a:chExt cx="4521089" cy="9304165"/>
          </a:xfrm>
        </p:grpSpPr>
        <p:grpSp>
          <p:nvGrpSpPr>
            <p:cNvPr id="29" name="Group 29"/>
            <p:cNvGrpSpPr/>
            <p:nvPr/>
          </p:nvGrpSpPr>
          <p:grpSpPr>
            <a:xfrm>
              <a:off x="449339" y="0"/>
              <a:ext cx="3622411" cy="1329904"/>
              <a:chOff x="0" y="0"/>
              <a:chExt cx="888961" cy="326363"/>
            </a:xfrm>
          </p:grpSpPr>
          <p:sp>
            <p:nvSpPr>
              <p:cNvPr id="30" name="Freeform 30"/>
              <p:cNvSpPr/>
              <p:nvPr/>
            </p:nvSpPr>
            <p:spPr>
              <a:xfrm>
                <a:off x="0" y="0"/>
                <a:ext cx="888961" cy="326363"/>
              </a:xfrm>
              <a:custGeom>
                <a:avLst/>
                <a:gdLst/>
                <a:ahLst/>
                <a:cxnLst/>
                <a:rect l="l" t="t" r="r" b="b"/>
                <a:pathLst>
                  <a:path w="888961" h="326363">
                    <a:moveTo>
                      <a:pt x="888961" y="86794"/>
                    </a:moveTo>
                    <a:lnTo>
                      <a:pt x="888961" y="239570"/>
                    </a:lnTo>
                    <a:cubicBezTo>
                      <a:pt x="888961" y="262589"/>
                      <a:pt x="879816" y="284665"/>
                      <a:pt x="863539" y="300942"/>
                    </a:cubicBezTo>
                    <a:cubicBezTo>
                      <a:pt x="847262" y="317219"/>
                      <a:pt x="825186" y="326363"/>
                      <a:pt x="802167" y="326363"/>
                    </a:cubicBezTo>
                    <a:lnTo>
                      <a:pt x="86794" y="326363"/>
                    </a:lnTo>
                    <a:cubicBezTo>
                      <a:pt x="63774" y="326363"/>
                      <a:pt x="41698" y="317219"/>
                      <a:pt x="25421" y="300942"/>
                    </a:cubicBezTo>
                    <a:cubicBezTo>
                      <a:pt x="9144" y="284665"/>
                      <a:pt x="0" y="262589"/>
                      <a:pt x="0" y="239570"/>
                    </a:cubicBezTo>
                    <a:lnTo>
                      <a:pt x="0" y="86794"/>
                    </a:lnTo>
                    <a:cubicBezTo>
                      <a:pt x="0" y="63774"/>
                      <a:pt x="9144" y="41698"/>
                      <a:pt x="25421" y="25421"/>
                    </a:cubicBezTo>
                    <a:cubicBezTo>
                      <a:pt x="41698" y="9144"/>
                      <a:pt x="63774" y="0"/>
                      <a:pt x="86794" y="0"/>
                    </a:cubicBezTo>
                    <a:lnTo>
                      <a:pt x="802167" y="0"/>
                    </a:lnTo>
                    <a:cubicBezTo>
                      <a:pt x="825186" y="0"/>
                      <a:pt x="847262" y="9144"/>
                      <a:pt x="863539" y="25421"/>
                    </a:cubicBezTo>
                    <a:cubicBezTo>
                      <a:pt x="879816" y="41698"/>
                      <a:pt x="888961" y="63774"/>
                      <a:pt x="888961" y="86794"/>
                    </a:cubicBezTo>
                    <a:close/>
                  </a:path>
                </a:pathLst>
              </a:custGeom>
              <a:solidFill>
                <a:srgbClr val="000000">
                  <a:alpha val="0"/>
                </a:srgbClr>
              </a:solidFill>
              <a:ln w="19050" cap="sq">
                <a:solidFill>
                  <a:srgbClr val="FFFFFF"/>
                </a:solidFill>
                <a:prstDash val="solid"/>
                <a:miter/>
              </a:ln>
            </p:spPr>
          </p:sp>
          <p:sp>
            <p:nvSpPr>
              <p:cNvPr id="31" name="TextBox 31"/>
              <p:cNvSpPr txBox="1"/>
              <p:nvPr/>
            </p:nvSpPr>
            <p:spPr>
              <a:xfrm>
                <a:off x="0" y="-38100"/>
                <a:ext cx="888961" cy="364463"/>
              </a:xfrm>
              <a:prstGeom prst="rect">
                <a:avLst/>
              </a:prstGeom>
            </p:spPr>
            <p:txBody>
              <a:bodyPr lIns="34710" tIns="34710" rIns="34710" bIns="34710" rtlCol="0" anchor="ctr"/>
              <a:lstStyle/>
              <a:p>
                <a:pPr algn="ctr">
                  <a:lnSpc>
                    <a:spcPts val="2698"/>
                  </a:lnSpc>
                </a:pPr>
                <a:endParaRPr/>
              </a:p>
            </p:txBody>
          </p:sp>
        </p:grpSp>
        <p:sp>
          <p:nvSpPr>
            <p:cNvPr id="32" name="TextBox 32"/>
            <p:cNvSpPr txBox="1"/>
            <p:nvPr/>
          </p:nvSpPr>
          <p:spPr>
            <a:xfrm>
              <a:off x="616184" y="261518"/>
              <a:ext cx="3212026" cy="867106"/>
            </a:xfrm>
            <a:prstGeom prst="rect">
              <a:avLst/>
            </a:prstGeom>
          </p:spPr>
          <p:txBody>
            <a:bodyPr lIns="0" tIns="0" rIns="0" bIns="0" rtlCol="0" anchor="t">
              <a:spAutoFit/>
            </a:bodyPr>
            <a:lstStyle/>
            <a:p>
              <a:pPr algn="ctr">
                <a:lnSpc>
                  <a:spcPts val="2760"/>
                </a:lnSpc>
              </a:pPr>
              <a:r>
                <a:rPr lang="en-US" sz="1971" b="1">
                  <a:solidFill>
                    <a:srgbClr val="FFFFFF"/>
                  </a:solidFill>
                  <a:latin typeface="Canva Sans Bold"/>
                  <a:ea typeface="Canva Sans Bold"/>
                  <a:cs typeface="Canva Sans Bold"/>
                  <a:sym typeface="Canva Sans Bold"/>
                </a:rPr>
                <a:t>Input: Audio Signal (Speech)</a:t>
              </a:r>
            </a:p>
          </p:txBody>
        </p:sp>
        <p:grpSp>
          <p:nvGrpSpPr>
            <p:cNvPr id="33" name="Group 33"/>
            <p:cNvGrpSpPr/>
            <p:nvPr/>
          </p:nvGrpSpPr>
          <p:grpSpPr>
            <a:xfrm>
              <a:off x="449339" y="2238364"/>
              <a:ext cx="3622411" cy="1646602"/>
              <a:chOff x="0" y="0"/>
              <a:chExt cx="888961" cy="404082"/>
            </a:xfrm>
          </p:grpSpPr>
          <p:sp>
            <p:nvSpPr>
              <p:cNvPr id="34" name="Freeform 34"/>
              <p:cNvSpPr/>
              <p:nvPr/>
            </p:nvSpPr>
            <p:spPr>
              <a:xfrm>
                <a:off x="0" y="0"/>
                <a:ext cx="888961" cy="404082"/>
              </a:xfrm>
              <a:custGeom>
                <a:avLst/>
                <a:gdLst/>
                <a:ahLst/>
                <a:cxnLst/>
                <a:rect l="l" t="t" r="r" b="b"/>
                <a:pathLst>
                  <a:path w="888961" h="404082">
                    <a:moveTo>
                      <a:pt x="888961" y="86794"/>
                    </a:moveTo>
                    <a:lnTo>
                      <a:pt x="888961" y="317289"/>
                    </a:lnTo>
                    <a:cubicBezTo>
                      <a:pt x="888961" y="340308"/>
                      <a:pt x="879816" y="362384"/>
                      <a:pt x="863539" y="378661"/>
                    </a:cubicBezTo>
                    <a:cubicBezTo>
                      <a:pt x="847262" y="394938"/>
                      <a:pt x="825186" y="404082"/>
                      <a:pt x="802167" y="404082"/>
                    </a:cubicBezTo>
                    <a:lnTo>
                      <a:pt x="86794" y="404082"/>
                    </a:lnTo>
                    <a:cubicBezTo>
                      <a:pt x="63774" y="404082"/>
                      <a:pt x="41698" y="394938"/>
                      <a:pt x="25421" y="378661"/>
                    </a:cubicBezTo>
                    <a:cubicBezTo>
                      <a:pt x="9144" y="362384"/>
                      <a:pt x="0" y="340308"/>
                      <a:pt x="0" y="317289"/>
                    </a:cubicBezTo>
                    <a:lnTo>
                      <a:pt x="0" y="86794"/>
                    </a:lnTo>
                    <a:cubicBezTo>
                      <a:pt x="0" y="63774"/>
                      <a:pt x="9144" y="41698"/>
                      <a:pt x="25421" y="25421"/>
                    </a:cubicBezTo>
                    <a:cubicBezTo>
                      <a:pt x="41698" y="9144"/>
                      <a:pt x="63774" y="0"/>
                      <a:pt x="86794" y="0"/>
                    </a:cubicBezTo>
                    <a:lnTo>
                      <a:pt x="802167" y="0"/>
                    </a:lnTo>
                    <a:cubicBezTo>
                      <a:pt x="825186" y="0"/>
                      <a:pt x="847262" y="9144"/>
                      <a:pt x="863539" y="25421"/>
                    </a:cubicBezTo>
                    <a:cubicBezTo>
                      <a:pt x="879816" y="41698"/>
                      <a:pt x="888961" y="63774"/>
                      <a:pt x="888961" y="86794"/>
                    </a:cubicBezTo>
                    <a:close/>
                  </a:path>
                </a:pathLst>
              </a:custGeom>
              <a:solidFill>
                <a:srgbClr val="000000">
                  <a:alpha val="0"/>
                </a:srgbClr>
              </a:solidFill>
              <a:ln w="19050" cap="sq">
                <a:solidFill>
                  <a:srgbClr val="FFFFFF"/>
                </a:solidFill>
                <a:prstDash val="solid"/>
                <a:miter/>
              </a:ln>
            </p:spPr>
          </p:sp>
          <p:sp>
            <p:nvSpPr>
              <p:cNvPr id="35" name="TextBox 35"/>
              <p:cNvSpPr txBox="1"/>
              <p:nvPr/>
            </p:nvSpPr>
            <p:spPr>
              <a:xfrm>
                <a:off x="0" y="-38100"/>
                <a:ext cx="888961" cy="442182"/>
              </a:xfrm>
              <a:prstGeom prst="rect">
                <a:avLst/>
              </a:prstGeom>
            </p:spPr>
            <p:txBody>
              <a:bodyPr lIns="34710" tIns="34710" rIns="34710" bIns="34710" rtlCol="0" anchor="ctr"/>
              <a:lstStyle/>
              <a:p>
                <a:pPr algn="ctr">
                  <a:lnSpc>
                    <a:spcPts val="2698"/>
                  </a:lnSpc>
                </a:pPr>
                <a:endParaRPr/>
              </a:p>
            </p:txBody>
          </p:sp>
        </p:grpSp>
        <p:sp>
          <p:nvSpPr>
            <p:cNvPr id="36" name="AutoShape 36"/>
            <p:cNvSpPr/>
            <p:nvPr/>
          </p:nvSpPr>
          <p:spPr>
            <a:xfrm>
              <a:off x="2260544" y="1329898"/>
              <a:ext cx="0" cy="908472"/>
            </a:xfrm>
            <a:prstGeom prst="line">
              <a:avLst/>
            </a:prstGeom>
            <a:ln w="61076" cap="flat">
              <a:solidFill>
                <a:srgbClr val="FFFFFF"/>
              </a:solidFill>
              <a:prstDash val="solid"/>
              <a:headEnd type="none" w="sm" len="sm"/>
              <a:tailEnd type="arrow" w="med" len="sm"/>
            </a:ln>
          </p:spPr>
        </p:sp>
        <p:sp>
          <p:nvSpPr>
            <p:cNvPr id="37" name="TextBox 37"/>
            <p:cNvSpPr txBox="1"/>
            <p:nvPr/>
          </p:nvSpPr>
          <p:spPr>
            <a:xfrm>
              <a:off x="616184" y="2404154"/>
              <a:ext cx="3212026" cy="1314995"/>
            </a:xfrm>
            <a:prstGeom prst="rect">
              <a:avLst/>
            </a:prstGeom>
          </p:spPr>
          <p:txBody>
            <a:bodyPr lIns="0" tIns="0" rIns="0" bIns="0" rtlCol="0" anchor="t">
              <a:spAutoFit/>
            </a:bodyPr>
            <a:lstStyle/>
            <a:p>
              <a:pPr algn="ctr">
                <a:lnSpc>
                  <a:spcPts val="2760"/>
                </a:lnSpc>
              </a:pPr>
              <a:r>
                <a:rPr lang="en-US" sz="1971" b="1">
                  <a:solidFill>
                    <a:srgbClr val="FFFFFF"/>
                  </a:solidFill>
                  <a:latin typeface="Canva Sans Bold"/>
                  <a:ea typeface="Canva Sans Bold"/>
                  <a:cs typeface="Canva Sans Bold"/>
                  <a:sym typeface="Canva Sans Bold"/>
                </a:rPr>
                <a:t>Speech-to-Text Conversion (ML/AI Model)</a:t>
              </a:r>
            </a:p>
          </p:txBody>
        </p:sp>
        <p:grpSp>
          <p:nvGrpSpPr>
            <p:cNvPr id="38" name="Group 38"/>
            <p:cNvGrpSpPr/>
            <p:nvPr/>
          </p:nvGrpSpPr>
          <p:grpSpPr>
            <a:xfrm>
              <a:off x="0" y="4819201"/>
              <a:ext cx="4521089" cy="2011498"/>
              <a:chOff x="0" y="0"/>
              <a:chExt cx="1109501" cy="493629"/>
            </a:xfrm>
          </p:grpSpPr>
          <p:sp>
            <p:nvSpPr>
              <p:cNvPr id="39" name="Freeform 39"/>
              <p:cNvSpPr/>
              <p:nvPr/>
            </p:nvSpPr>
            <p:spPr>
              <a:xfrm>
                <a:off x="0" y="0"/>
                <a:ext cx="1109501" cy="493629"/>
              </a:xfrm>
              <a:custGeom>
                <a:avLst/>
                <a:gdLst/>
                <a:ahLst/>
                <a:cxnLst/>
                <a:rect l="l" t="t" r="r" b="b"/>
                <a:pathLst>
                  <a:path w="1109501" h="493629">
                    <a:moveTo>
                      <a:pt x="1109501" y="69541"/>
                    </a:moveTo>
                    <a:lnTo>
                      <a:pt x="1109501" y="424088"/>
                    </a:lnTo>
                    <a:cubicBezTo>
                      <a:pt x="1109501" y="462495"/>
                      <a:pt x="1078367" y="493629"/>
                      <a:pt x="1039960" y="493629"/>
                    </a:cubicBezTo>
                    <a:lnTo>
                      <a:pt x="69541" y="493629"/>
                    </a:lnTo>
                    <a:cubicBezTo>
                      <a:pt x="31135" y="493629"/>
                      <a:pt x="0" y="462495"/>
                      <a:pt x="0" y="424088"/>
                    </a:cubicBezTo>
                    <a:lnTo>
                      <a:pt x="0" y="69541"/>
                    </a:lnTo>
                    <a:cubicBezTo>
                      <a:pt x="0" y="31135"/>
                      <a:pt x="31135" y="0"/>
                      <a:pt x="69541" y="0"/>
                    </a:cubicBezTo>
                    <a:lnTo>
                      <a:pt x="1039960" y="0"/>
                    </a:lnTo>
                    <a:cubicBezTo>
                      <a:pt x="1058404" y="0"/>
                      <a:pt x="1076092" y="7327"/>
                      <a:pt x="1089133" y="20368"/>
                    </a:cubicBezTo>
                    <a:cubicBezTo>
                      <a:pt x="1102175" y="33410"/>
                      <a:pt x="1109501" y="51098"/>
                      <a:pt x="1109501" y="69541"/>
                    </a:cubicBezTo>
                    <a:close/>
                  </a:path>
                </a:pathLst>
              </a:custGeom>
              <a:solidFill>
                <a:srgbClr val="000000">
                  <a:alpha val="0"/>
                </a:srgbClr>
              </a:solidFill>
              <a:ln w="19050" cap="sq">
                <a:solidFill>
                  <a:srgbClr val="FFFFFF"/>
                </a:solidFill>
                <a:prstDash val="solid"/>
                <a:miter/>
              </a:ln>
            </p:spPr>
          </p:sp>
          <p:sp>
            <p:nvSpPr>
              <p:cNvPr id="40" name="TextBox 40"/>
              <p:cNvSpPr txBox="1"/>
              <p:nvPr/>
            </p:nvSpPr>
            <p:spPr>
              <a:xfrm>
                <a:off x="0" y="-38100"/>
                <a:ext cx="1109501" cy="531729"/>
              </a:xfrm>
              <a:prstGeom prst="rect">
                <a:avLst/>
              </a:prstGeom>
            </p:spPr>
            <p:txBody>
              <a:bodyPr lIns="34710" tIns="34710" rIns="34710" bIns="34710" rtlCol="0" anchor="ctr"/>
              <a:lstStyle/>
              <a:p>
                <a:pPr algn="ctr">
                  <a:lnSpc>
                    <a:spcPts val="2698"/>
                  </a:lnSpc>
                </a:pPr>
                <a:endParaRPr/>
              </a:p>
            </p:txBody>
          </p:sp>
        </p:grpSp>
        <p:sp>
          <p:nvSpPr>
            <p:cNvPr id="41" name="AutoShape 41"/>
            <p:cNvSpPr/>
            <p:nvPr/>
          </p:nvSpPr>
          <p:spPr>
            <a:xfrm>
              <a:off x="2260544" y="3884959"/>
              <a:ext cx="0" cy="934250"/>
            </a:xfrm>
            <a:prstGeom prst="line">
              <a:avLst/>
            </a:prstGeom>
            <a:ln w="61076" cap="flat">
              <a:solidFill>
                <a:srgbClr val="FFFFFF"/>
              </a:solidFill>
              <a:prstDash val="solid"/>
              <a:headEnd type="none" w="sm" len="sm"/>
              <a:tailEnd type="arrow" w="med" len="sm"/>
            </a:ln>
          </p:spPr>
        </p:sp>
        <p:sp>
          <p:nvSpPr>
            <p:cNvPr id="42" name="TextBox 42"/>
            <p:cNvSpPr txBox="1"/>
            <p:nvPr/>
          </p:nvSpPr>
          <p:spPr>
            <a:xfrm>
              <a:off x="503485" y="5131663"/>
              <a:ext cx="3568264" cy="1314995"/>
            </a:xfrm>
            <a:prstGeom prst="rect">
              <a:avLst/>
            </a:prstGeom>
          </p:spPr>
          <p:txBody>
            <a:bodyPr lIns="0" tIns="0" rIns="0" bIns="0" rtlCol="0" anchor="t">
              <a:spAutoFit/>
            </a:bodyPr>
            <a:lstStyle/>
            <a:p>
              <a:pPr algn="ctr">
                <a:lnSpc>
                  <a:spcPts val="2760"/>
                </a:lnSpc>
              </a:pPr>
              <a:r>
                <a:rPr lang="en-US" sz="1971" b="1">
                  <a:solidFill>
                    <a:srgbClr val="FFFFFF"/>
                  </a:solidFill>
                  <a:latin typeface="Canva Sans Bold"/>
                  <a:ea typeface="Canva Sans Bold"/>
                  <a:cs typeface="Canva Sans Bold"/>
                  <a:sym typeface="Canva Sans Bold"/>
                </a:rPr>
                <a:t>Text-to-Morse Code Encoder (Algorithmic Mapping)</a:t>
              </a:r>
            </a:p>
          </p:txBody>
        </p:sp>
        <p:grpSp>
          <p:nvGrpSpPr>
            <p:cNvPr id="43" name="Group 43"/>
            <p:cNvGrpSpPr/>
            <p:nvPr/>
          </p:nvGrpSpPr>
          <p:grpSpPr>
            <a:xfrm>
              <a:off x="449339" y="7789132"/>
              <a:ext cx="3622411" cy="1358929"/>
              <a:chOff x="0" y="0"/>
              <a:chExt cx="888961" cy="333486"/>
            </a:xfrm>
          </p:grpSpPr>
          <p:sp>
            <p:nvSpPr>
              <p:cNvPr id="44" name="Freeform 44"/>
              <p:cNvSpPr/>
              <p:nvPr/>
            </p:nvSpPr>
            <p:spPr>
              <a:xfrm>
                <a:off x="0" y="0"/>
                <a:ext cx="888961" cy="333486"/>
              </a:xfrm>
              <a:custGeom>
                <a:avLst/>
                <a:gdLst/>
                <a:ahLst/>
                <a:cxnLst/>
                <a:rect l="l" t="t" r="r" b="b"/>
                <a:pathLst>
                  <a:path w="888961" h="333486">
                    <a:moveTo>
                      <a:pt x="888961" y="86794"/>
                    </a:moveTo>
                    <a:lnTo>
                      <a:pt x="888961" y="246693"/>
                    </a:lnTo>
                    <a:cubicBezTo>
                      <a:pt x="888961" y="269712"/>
                      <a:pt x="879816" y="291788"/>
                      <a:pt x="863539" y="308065"/>
                    </a:cubicBezTo>
                    <a:cubicBezTo>
                      <a:pt x="847262" y="324342"/>
                      <a:pt x="825186" y="333486"/>
                      <a:pt x="802167" y="333486"/>
                    </a:cubicBezTo>
                    <a:lnTo>
                      <a:pt x="86794" y="333486"/>
                    </a:lnTo>
                    <a:cubicBezTo>
                      <a:pt x="63774" y="333486"/>
                      <a:pt x="41698" y="324342"/>
                      <a:pt x="25421" y="308065"/>
                    </a:cubicBezTo>
                    <a:cubicBezTo>
                      <a:pt x="9144" y="291788"/>
                      <a:pt x="0" y="269712"/>
                      <a:pt x="0" y="246693"/>
                    </a:cubicBezTo>
                    <a:lnTo>
                      <a:pt x="0" y="86794"/>
                    </a:lnTo>
                    <a:cubicBezTo>
                      <a:pt x="0" y="63774"/>
                      <a:pt x="9144" y="41698"/>
                      <a:pt x="25421" y="25421"/>
                    </a:cubicBezTo>
                    <a:cubicBezTo>
                      <a:pt x="41698" y="9144"/>
                      <a:pt x="63774" y="0"/>
                      <a:pt x="86794" y="0"/>
                    </a:cubicBezTo>
                    <a:lnTo>
                      <a:pt x="802167" y="0"/>
                    </a:lnTo>
                    <a:cubicBezTo>
                      <a:pt x="825186" y="0"/>
                      <a:pt x="847262" y="9144"/>
                      <a:pt x="863539" y="25421"/>
                    </a:cubicBezTo>
                    <a:cubicBezTo>
                      <a:pt x="879816" y="41698"/>
                      <a:pt x="888961" y="63774"/>
                      <a:pt x="888961" y="86794"/>
                    </a:cubicBezTo>
                    <a:close/>
                  </a:path>
                </a:pathLst>
              </a:custGeom>
              <a:solidFill>
                <a:srgbClr val="000000">
                  <a:alpha val="0"/>
                </a:srgbClr>
              </a:solidFill>
              <a:ln w="19050" cap="sq">
                <a:solidFill>
                  <a:srgbClr val="FFFFFF"/>
                </a:solidFill>
                <a:prstDash val="solid"/>
                <a:miter/>
              </a:ln>
            </p:spPr>
          </p:sp>
          <p:sp>
            <p:nvSpPr>
              <p:cNvPr id="45" name="TextBox 45"/>
              <p:cNvSpPr txBox="1"/>
              <p:nvPr/>
            </p:nvSpPr>
            <p:spPr>
              <a:xfrm>
                <a:off x="0" y="-38100"/>
                <a:ext cx="888961" cy="371586"/>
              </a:xfrm>
              <a:prstGeom prst="rect">
                <a:avLst/>
              </a:prstGeom>
            </p:spPr>
            <p:txBody>
              <a:bodyPr lIns="34710" tIns="34710" rIns="34710" bIns="34710" rtlCol="0" anchor="ctr"/>
              <a:lstStyle/>
              <a:p>
                <a:pPr algn="ctr">
                  <a:lnSpc>
                    <a:spcPts val="2698"/>
                  </a:lnSpc>
                </a:pPr>
                <a:endParaRPr/>
              </a:p>
            </p:txBody>
          </p:sp>
        </p:grpSp>
        <p:sp>
          <p:nvSpPr>
            <p:cNvPr id="46" name="AutoShape 46"/>
            <p:cNvSpPr/>
            <p:nvPr/>
          </p:nvSpPr>
          <p:spPr>
            <a:xfrm flipH="1">
              <a:off x="2260544" y="6830690"/>
              <a:ext cx="0" cy="958447"/>
            </a:xfrm>
            <a:prstGeom prst="line">
              <a:avLst/>
            </a:prstGeom>
            <a:ln w="61076" cap="flat">
              <a:solidFill>
                <a:srgbClr val="FFFFFF"/>
              </a:solidFill>
              <a:prstDash val="solid"/>
              <a:headEnd type="none" w="sm" len="sm"/>
              <a:tailEnd type="arrow" w="med" len="sm"/>
            </a:ln>
          </p:spPr>
        </p:sp>
        <p:sp>
          <p:nvSpPr>
            <p:cNvPr id="47" name="TextBox 47"/>
            <p:cNvSpPr txBox="1"/>
            <p:nvPr/>
          </p:nvSpPr>
          <p:spPr>
            <a:xfrm>
              <a:off x="616184" y="7989171"/>
              <a:ext cx="3212026" cy="1314995"/>
            </a:xfrm>
            <a:prstGeom prst="rect">
              <a:avLst/>
            </a:prstGeom>
          </p:spPr>
          <p:txBody>
            <a:bodyPr lIns="0" tIns="0" rIns="0" bIns="0" rtlCol="0" anchor="t">
              <a:spAutoFit/>
            </a:bodyPr>
            <a:lstStyle/>
            <a:p>
              <a:pPr algn="ctr">
                <a:lnSpc>
                  <a:spcPts val="2760"/>
                </a:lnSpc>
              </a:pPr>
              <a:r>
                <a:rPr lang="en-US" sz="1971" b="1">
                  <a:solidFill>
                    <a:srgbClr val="FFFFFF"/>
                  </a:solidFill>
                  <a:latin typeface="Canva Sans Bold"/>
                  <a:ea typeface="Canva Sans Bold"/>
                  <a:cs typeface="Canva Sans Bold"/>
                  <a:sym typeface="Canva Sans Bold"/>
                </a:rPr>
                <a:t>Output: Recognized Word or Phrase</a:t>
              </a:r>
            </a:p>
            <a:p>
              <a:pPr algn="ctr">
                <a:lnSpc>
                  <a:spcPts val="2760"/>
                </a:lnSpc>
              </a:pPr>
              <a:endParaRPr lang="en-US" sz="1971" b="1">
                <a:solidFill>
                  <a:srgbClr val="FFFFFF"/>
                </a:solidFill>
                <a:latin typeface="Canva Sans Bold"/>
                <a:ea typeface="Canva Sans Bold"/>
                <a:cs typeface="Canva Sans Bold"/>
                <a:sym typeface="Canva Sans Bold"/>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316B"/>
        </a:solidFill>
        <a:effectLst/>
      </p:bgPr>
    </p:bg>
    <p:spTree>
      <p:nvGrpSpPr>
        <p:cNvPr id="1" name=""/>
        <p:cNvGrpSpPr/>
        <p:nvPr/>
      </p:nvGrpSpPr>
      <p:grpSpPr>
        <a:xfrm>
          <a:off x="0" y="0"/>
          <a:ext cx="0" cy="0"/>
          <a:chOff x="0" y="0"/>
          <a:chExt cx="0" cy="0"/>
        </a:xfrm>
      </p:grpSpPr>
      <p:sp>
        <p:nvSpPr>
          <p:cNvPr id="2" name="Freeform 2"/>
          <p:cNvSpPr/>
          <p:nvPr/>
        </p:nvSpPr>
        <p:spPr>
          <a:xfrm rot="1168090">
            <a:off x="285813" y="-4347970"/>
            <a:ext cx="15587361" cy="7533891"/>
          </a:xfrm>
          <a:custGeom>
            <a:avLst/>
            <a:gdLst/>
            <a:ahLst/>
            <a:cxnLst/>
            <a:rect l="l" t="t" r="r" b="b"/>
            <a:pathLst>
              <a:path w="15587361" h="7533891">
                <a:moveTo>
                  <a:pt x="0" y="0"/>
                </a:moveTo>
                <a:lnTo>
                  <a:pt x="15587360" y="0"/>
                </a:lnTo>
                <a:lnTo>
                  <a:pt x="15587360" y="7533890"/>
                </a:lnTo>
                <a:lnTo>
                  <a:pt x="0" y="7533890"/>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sp>
      <p:sp>
        <p:nvSpPr>
          <p:cNvPr id="3" name="Freeform 3"/>
          <p:cNvSpPr/>
          <p:nvPr/>
        </p:nvSpPr>
        <p:spPr>
          <a:xfrm rot="-3200662" flipH="1">
            <a:off x="10547559" y="4877764"/>
            <a:ext cx="11854318" cy="5729587"/>
          </a:xfrm>
          <a:custGeom>
            <a:avLst/>
            <a:gdLst/>
            <a:ahLst/>
            <a:cxnLst/>
            <a:rect l="l" t="t" r="r" b="b"/>
            <a:pathLst>
              <a:path w="11854318" h="5729587">
                <a:moveTo>
                  <a:pt x="11854318" y="0"/>
                </a:moveTo>
                <a:lnTo>
                  <a:pt x="0" y="0"/>
                </a:lnTo>
                <a:lnTo>
                  <a:pt x="0" y="5729587"/>
                </a:lnTo>
                <a:lnTo>
                  <a:pt x="11854318" y="5729587"/>
                </a:lnTo>
                <a:lnTo>
                  <a:pt x="11854318"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836687" y="303556"/>
            <a:ext cx="19193706" cy="3766580"/>
            <a:chOff x="0" y="0"/>
            <a:chExt cx="1767691" cy="346892"/>
          </a:xfrm>
        </p:grpSpPr>
        <p:sp>
          <p:nvSpPr>
            <p:cNvPr id="5" name="Freeform 5"/>
            <p:cNvSpPr/>
            <p:nvPr/>
          </p:nvSpPr>
          <p:spPr>
            <a:xfrm>
              <a:off x="0" y="0"/>
              <a:ext cx="1767691" cy="346892"/>
            </a:xfrm>
            <a:custGeom>
              <a:avLst/>
              <a:gdLst/>
              <a:ahLst/>
              <a:cxnLst/>
              <a:rect l="l" t="t" r="r" b="b"/>
              <a:pathLst>
                <a:path w="1767691" h="346892">
                  <a:moveTo>
                    <a:pt x="1564491" y="0"/>
                  </a:moveTo>
                  <a:cubicBezTo>
                    <a:pt x="1676715" y="0"/>
                    <a:pt x="1767691" y="77654"/>
                    <a:pt x="1767691" y="173446"/>
                  </a:cubicBezTo>
                  <a:cubicBezTo>
                    <a:pt x="1767691" y="269238"/>
                    <a:pt x="1676715" y="346892"/>
                    <a:pt x="1564491" y="346892"/>
                  </a:cubicBezTo>
                  <a:lnTo>
                    <a:pt x="203200" y="346892"/>
                  </a:lnTo>
                  <a:cubicBezTo>
                    <a:pt x="90976" y="346892"/>
                    <a:pt x="0" y="269238"/>
                    <a:pt x="0" y="173446"/>
                  </a:cubicBezTo>
                  <a:cubicBezTo>
                    <a:pt x="0" y="77654"/>
                    <a:pt x="90976" y="0"/>
                    <a:pt x="203200" y="0"/>
                  </a:cubicBezTo>
                  <a:close/>
                </a:path>
              </a:pathLst>
            </a:custGeom>
            <a:solidFill>
              <a:srgbClr val="F2F7FF"/>
            </a:solidFill>
            <a:ln cap="sq">
              <a:noFill/>
              <a:prstDash val="solid"/>
              <a:miter/>
            </a:ln>
          </p:spPr>
        </p:sp>
        <p:sp>
          <p:nvSpPr>
            <p:cNvPr id="6" name="TextBox 6"/>
            <p:cNvSpPr txBox="1"/>
            <p:nvPr/>
          </p:nvSpPr>
          <p:spPr>
            <a:xfrm>
              <a:off x="0" y="-57150"/>
              <a:ext cx="1767691" cy="404042"/>
            </a:xfrm>
            <a:prstGeom prst="rect">
              <a:avLst/>
            </a:prstGeom>
          </p:spPr>
          <p:txBody>
            <a:bodyPr lIns="50800" tIns="50800" rIns="50800" bIns="50800" rtlCol="0" anchor="ctr"/>
            <a:lstStyle/>
            <a:p>
              <a:pPr algn="ctr">
                <a:lnSpc>
                  <a:spcPts val="3511"/>
                </a:lnSpc>
              </a:pPr>
              <a:endParaRPr/>
            </a:p>
          </p:txBody>
        </p:sp>
      </p:grpSp>
      <p:grpSp>
        <p:nvGrpSpPr>
          <p:cNvPr id="7" name="Group 7"/>
          <p:cNvGrpSpPr/>
          <p:nvPr/>
        </p:nvGrpSpPr>
        <p:grpSpPr>
          <a:xfrm>
            <a:off x="1084293" y="1426491"/>
            <a:ext cx="1504788" cy="1555304"/>
            <a:chOff x="0" y="0"/>
            <a:chExt cx="813616" cy="840929"/>
          </a:xfrm>
        </p:grpSpPr>
        <p:sp>
          <p:nvSpPr>
            <p:cNvPr id="8" name="Freeform 8"/>
            <p:cNvSpPr/>
            <p:nvPr/>
          </p:nvSpPr>
          <p:spPr>
            <a:xfrm>
              <a:off x="0" y="0"/>
              <a:ext cx="813616" cy="840929"/>
            </a:xfrm>
            <a:custGeom>
              <a:avLst/>
              <a:gdLst/>
              <a:ahLst/>
              <a:cxnLst/>
              <a:rect l="l" t="t" r="r" b="b"/>
              <a:pathLst>
                <a:path w="813616" h="840929">
                  <a:moveTo>
                    <a:pt x="406808" y="0"/>
                  </a:moveTo>
                  <a:cubicBezTo>
                    <a:pt x="182134" y="0"/>
                    <a:pt x="0" y="188248"/>
                    <a:pt x="0" y="420464"/>
                  </a:cubicBezTo>
                  <a:cubicBezTo>
                    <a:pt x="0" y="652680"/>
                    <a:pt x="182134" y="840929"/>
                    <a:pt x="406808" y="840929"/>
                  </a:cubicBezTo>
                  <a:cubicBezTo>
                    <a:pt x="631481" y="840929"/>
                    <a:pt x="813616" y="652680"/>
                    <a:pt x="813616" y="420464"/>
                  </a:cubicBezTo>
                  <a:cubicBezTo>
                    <a:pt x="813616" y="188248"/>
                    <a:pt x="631481" y="0"/>
                    <a:pt x="406808" y="0"/>
                  </a:cubicBezTo>
                  <a:close/>
                </a:path>
              </a:pathLst>
            </a:custGeom>
            <a:solidFill>
              <a:srgbClr val="10316B"/>
            </a:solidFill>
            <a:ln w="95250" cap="sq">
              <a:solidFill>
                <a:srgbClr val="F2F7FF"/>
              </a:solidFill>
              <a:prstDash val="solid"/>
              <a:miter/>
            </a:ln>
          </p:spPr>
        </p:sp>
        <p:sp>
          <p:nvSpPr>
            <p:cNvPr id="9" name="TextBox 9"/>
            <p:cNvSpPr txBox="1"/>
            <p:nvPr/>
          </p:nvSpPr>
          <p:spPr>
            <a:xfrm>
              <a:off x="76276" y="-16413"/>
              <a:ext cx="661063" cy="778505"/>
            </a:xfrm>
            <a:prstGeom prst="rect">
              <a:avLst/>
            </a:prstGeom>
          </p:spPr>
          <p:txBody>
            <a:bodyPr lIns="50800" tIns="50800" rIns="50800" bIns="50800" rtlCol="0" anchor="ctr"/>
            <a:lstStyle/>
            <a:p>
              <a:pPr algn="ctr">
                <a:lnSpc>
                  <a:spcPts val="6999"/>
                </a:lnSpc>
              </a:pPr>
              <a:r>
                <a:rPr lang="en-US" sz="4999" b="1">
                  <a:solidFill>
                    <a:srgbClr val="F2F7FF"/>
                  </a:solidFill>
                  <a:latin typeface="Roboto Bold"/>
                  <a:ea typeface="Roboto Bold"/>
                  <a:cs typeface="Roboto Bold"/>
                  <a:sym typeface="Roboto Bold"/>
                </a:rPr>
                <a:t>01</a:t>
              </a:r>
            </a:p>
          </p:txBody>
        </p:sp>
      </p:grpSp>
      <p:sp>
        <p:nvSpPr>
          <p:cNvPr id="10" name="Freeform 10"/>
          <p:cNvSpPr/>
          <p:nvPr/>
        </p:nvSpPr>
        <p:spPr>
          <a:xfrm>
            <a:off x="1028700" y="4838700"/>
            <a:ext cx="8358298" cy="4626301"/>
          </a:xfrm>
          <a:custGeom>
            <a:avLst/>
            <a:gdLst/>
            <a:ahLst/>
            <a:cxnLst/>
            <a:rect l="l" t="t" r="r" b="b"/>
            <a:pathLst>
              <a:path w="8358298" h="4626301">
                <a:moveTo>
                  <a:pt x="0" y="0"/>
                </a:moveTo>
                <a:lnTo>
                  <a:pt x="8358298" y="0"/>
                </a:lnTo>
                <a:lnTo>
                  <a:pt x="8358298" y="4626301"/>
                </a:lnTo>
                <a:lnTo>
                  <a:pt x="0" y="4626301"/>
                </a:lnTo>
                <a:lnTo>
                  <a:pt x="0" y="0"/>
                </a:lnTo>
                <a:close/>
              </a:path>
            </a:pathLst>
          </a:custGeom>
          <a:blipFill>
            <a:blip r:embed="rId4"/>
            <a:stretch>
              <a:fillRect/>
            </a:stretch>
          </a:blipFill>
        </p:spPr>
      </p:sp>
      <p:sp>
        <p:nvSpPr>
          <p:cNvPr id="11" name="Freeform 11"/>
          <p:cNvSpPr/>
          <p:nvPr/>
        </p:nvSpPr>
        <p:spPr>
          <a:xfrm>
            <a:off x="10209699" y="4838700"/>
            <a:ext cx="7049601" cy="4626301"/>
          </a:xfrm>
          <a:custGeom>
            <a:avLst/>
            <a:gdLst/>
            <a:ahLst/>
            <a:cxnLst/>
            <a:rect l="l" t="t" r="r" b="b"/>
            <a:pathLst>
              <a:path w="7049601" h="4626301">
                <a:moveTo>
                  <a:pt x="0" y="0"/>
                </a:moveTo>
                <a:lnTo>
                  <a:pt x="7049601" y="0"/>
                </a:lnTo>
                <a:lnTo>
                  <a:pt x="7049601" y="4626301"/>
                </a:lnTo>
                <a:lnTo>
                  <a:pt x="0" y="4626301"/>
                </a:lnTo>
                <a:lnTo>
                  <a:pt x="0" y="0"/>
                </a:lnTo>
                <a:close/>
              </a:path>
            </a:pathLst>
          </a:custGeom>
          <a:blipFill>
            <a:blip r:embed="rId5"/>
            <a:stretch>
              <a:fillRect/>
            </a:stretch>
          </a:blipFill>
        </p:spPr>
      </p:sp>
      <p:sp>
        <p:nvSpPr>
          <p:cNvPr id="12" name="TextBox 12"/>
          <p:cNvSpPr txBox="1"/>
          <p:nvPr/>
        </p:nvSpPr>
        <p:spPr>
          <a:xfrm>
            <a:off x="3626129" y="1361784"/>
            <a:ext cx="13633171" cy="2789555"/>
          </a:xfrm>
          <a:prstGeom prst="rect">
            <a:avLst/>
          </a:prstGeom>
        </p:spPr>
        <p:txBody>
          <a:bodyPr lIns="0" tIns="0" rIns="0" bIns="0" rtlCol="0" anchor="t">
            <a:spAutoFit/>
          </a:bodyPr>
          <a:lstStyle/>
          <a:p>
            <a:pPr marL="496571" lvl="1" indent="-248285" algn="l">
              <a:lnSpc>
                <a:spcPts val="3220"/>
              </a:lnSpc>
              <a:buFont typeface="Arial"/>
              <a:buChar char="•"/>
            </a:pPr>
            <a:r>
              <a:rPr lang="en-US" sz="2300" spc="460">
                <a:solidFill>
                  <a:srgbClr val="000000"/>
                </a:solidFill>
                <a:latin typeface="Inter"/>
                <a:ea typeface="Inter"/>
                <a:cs typeface="Inter"/>
                <a:sym typeface="Inter"/>
              </a:rPr>
              <a:t>Gesture Recognition Accuracy: Achieved between 90–94% under controlled conditions.</a:t>
            </a:r>
          </a:p>
          <a:p>
            <a:pPr marL="496571" lvl="1" indent="-248285" algn="l">
              <a:lnSpc>
                <a:spcPts val="3220"/>
              </a:lnSpc>
              <a:buFont typeface="Arial"/>
              <a:buChar char="•"/>
            </a:pPr>
            <a:r>
              <a:rPr lang="en-US" sz="2300" spc="460">
                <a:solidFill>
                  <a:srgbClr val="000000"/>
                </a:solidFill>
                <a:latin typeface="Inter"/>
                <a:ea typeface="Inter"/>
                <a:cs typeface="Inter"/>
                <a:sym typeface="Inter"/>
              </a:rPr>
              <a:t>Speech-to-Morse Recognition Accuracy: Maintained 85–90% accuracy for clear spoken inputs.</a:t>
            </a:r>
          </a:p>
          <a:p>
            <a:pPr marL="496571" lvl="1" indent="-248285" algn="l">
              <a:lnSpc>
                <a:spcPts val="3220"/>
              </a:lnSpc>
              <a:buFont typeface="Arial"/>
              <a:buChar char="•"/>
            </a:pPr>
            <a:r>
              <a:rPr lang="en-US" sz="2300" spc="460">
                <a:solidFill>
                  <a:srgbClr val="000000"/>
                </a:solidFill>
                <a:latin typeface="Inter"/>
                <a:ea typeface="Inter"/>
                <a:cs typeface="Inter"/>
                <a:sym typeface="Inter"/>
              </a:rPr>
              <a:t>Latency: End-to-end system response times ranged from 350–500 milliseconds, enabling near real-time communication.</a:t>
            </a:r>
          </a:p>
          <a:p>
            <a:pPr algn="l">
              <a:lnSpc>
                <a:spcPts val="3220"/>
              </a:lnSpc>
            </a:pPr>
            <a:endParaRPr lang="en-US" sz="2300" spc="460">
              <a:solidFill>
                <a:srgbClr val="000000"/>
              </a:solidFill>
              <a:latin typeface="Inter"/>
              <a:ea typeface="Inter"/>
              <a:cs typeface="Inter"/>
              <a:sym typeface="Inter"/>
            </a:endParaRPr>
          </a:p>
        </p:txBody>
      </p:sp>
      <p:sp>
        <p:nvSpPr>
          <p:cNvPr id="13" name="TextBox 13"/>
          <p:cNvSpPr txBox="1"/>
          <p:nvPr/>
        </p:nvSpPr>
        <p:spPr>
          <a:xfrm>
            <a:off x="3626129" y="762921"/>
            <a:ext cx="13633171" cy="679450"/>
          </a:xfrm>
          <a:prstGeom prst="rect">
            <a:avLst/>
          </a:prstGeom>
        </p:spPr>
        <p:txBody>
          <a:bodyPr lIns="0" tIns="0" rIns="0" bIns="0" rtlCol="0" anchor="t">
            <a:spAutoFit/>
          </a:bodyPr>
          <a:lstStyle/>
          <a:p>
            <a:pPr marL="0" lvl="0" indent="0" algn="l">
              <a:lnSpc>
                <a:spcPts val="5599"/>
              </a:lnSpc>
            </a:pPr>
            <a:r>
              <a:rPr lang="en-US" sz="3999" b="1" spc="399">
                <a:solidFill>
                  <a:srgbClr val="10316B"/>
                </a:solidFill>
                <a:latin typeface="Roboto Bold"/>
                <a:ea typeface="Roboto Bold"/>
                <a:cs typeface="Roboto Bold"/>
                <a:sym typeface="Roboto Bold"/>
              </a:rPr>
              <a:t>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7FF"/>
        </a:solidFill>
        <a:effectLst/>
      </p:bgPr>
    </p:bg>
    <p:spTree>
      <p:nvGrpSpPr>
        <p:cNvPr id="1" name=""/>
        <p:cNvGrpSpPr/>
        <p:nvPr/>
      </p:nvGrpSpPr>
      <p:grpSpPr>
        <a:xfrm>
          <a:off x="0" y="0"/>
          <a:ext cx="0" cy="0"/>
          <a:chOff x="0" y="0"/>
          <a:chExt cx="0" cy="0"/>
        </a:xfrm>
      </p:grpSpPr>
      <p:sp>
        <p:nvSpPr>
          <p:cNvPr id="2" name="Freeform 2"/>
          <p:cNvSpPr/>
          <p:nvPr/>
        </p:nvSpPr>
        <p:spPr>
          <a:xfrm rot="1168090">
            <a:off x="178899" y="-2343089"/>
            <a:ext cx="12633316" cy="6106103"/>
          </a:xfrm>
          <a:custGeom>
            <a:avLst/>
            <a:gdLst/>
            <a:ahLst/>
            <a:cxnLst/>
            <a:rect l="l" t="t" r="r" b="b"/>
            <a:pathLst>
              <a:path w="12633316" h="6106103">
                <a:moveTo>
                  <a:pt x="0" y="0"/>
                </a:moveTo>
                <a:lnTo>
                  <a:pt x="12633316" y="0"/>
                </a:lnTo>
                <a:lnTo>
                  <a:pt x="12633316" y="6106103"/>
                </a:lnTo>
                <a:lnTo>
                  <a:pt x="0" y="6106103"/>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sp>
      <p:sp>
        <p:nvSpPr>
          <p:cNvPr id="3" name="Freeform 3"/>
          <p:cNvSpPr/>
          <p:nvPr/>
        </p:nvSpPr>
        <p:spPr>
          <a:xfrm rot="-10098696">
            <a:off x="6983088" y="1848169"/>
            <a:ext cx="12633316" cy="6106103"/>
          </a:xfrm>
          <a:custGeom>
            <a:avLst/>
            <a:gdLst/>
            <a:ahLst/>
            <a:cxnLst/>
            <a:rect l="l" t="t" r="r" b="b"/>
            <a:pathLst>
              <a:path w="12633316" h="6106103">
                <a:moveTo>
                  <a:pt x="0" y="0"/>
                </a:moveTo>
                <a:lnTo>
                  <a:pt x="12633317" y="0"/>
                </a:lnTo>
                <a:lnTo>
                  <a:pt x="12633317" y="6106103"/>
                </a:lnTo>
                <a:lnTo>
                  <a:pt x="0" y="6106103"/>
                </a:lnTo>
                <a:lnTo>
                  <a:pt x="0"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sp>
      <p:grpSp>
        <p:nvGrpSpPr>
          <p:cNvPr id="4" name="Group 4"/>
          <p:cNvGrpSpPr/>
          <p:nvPr/>
        </p:nvGrpSpPr>
        <p:grpSpPr>
          <a:xfrm>
            <a:off x="1836687" y="631793"/>
            <a:ext cx="19193706" cy="4933633"/>
            <a:chOff x="0" y="0"/>
            <a:chExt cx="1767691" cy="454375"/>
          </a:xfrm>
        </p:grpSpPr>
        <p:sp>
          <p:nvSpPr>
            <p:cNvPr id="5" name="Freeform 5"/>
            <p:cNvSpPr/>
            <p:nvPr/>
          </p:nvSpPr>
          <p:spPr>
            <a:xfrm>
              <a:off x="0" y="0"/>
              <a:ext cx="1767691" cy="454375"/>
            </a:xfrm>
            <a:custGeom>
              <a:avLst/>
              <a:gdLst/>
              <a:ahLst/>
              <a:cxnLst/>
              <a:rect l="l" t="t" r="r" b="b"/>
              <a:pathLst>
                <a:path w="1767691" h="454375">
                  <a:moveTo>
                    <a:pt x="1564491" y="0"/>
                  </a:moveTo>
                  <a:cubicBezTo>
                    <a:pt x="1676715" y="0"/>
                    <a:pt x="1767691" y="101715"/>
                    <a:pt x="1767691" y="227187"/>
                  </a:cubicBezTo>
                  <a:cubicBezTo>
                    <a:pt x="1767691" y="352660"/>
                    <a:pt x="1676715" y="454375"/>
                    <a:pt x="1564491" y="454375"/>
                  </a:cubicBezTo>
                  <a:lnTo>
                    <a:pt x="203200" y="454375"/>
                  </a:lnTo>
                  <a:cubicBezTo>
                    <a:pt x="90976" y="454375"/>
                    <a:pt x="0" y="352660"/>
                    <a:pt x="0" y="227187"/>
                  </a:cubicBezTo>
                  <a:cubicBezTo>
                    <a:pt x="0" y="101715"/>
                    <a:pt x="90976" y="0"/>
                    <a:pt x="203200" y="0"/>
                  </a:cubicBezTo>
                  <a:close/>
                </a:path>
              </a:pathLst>
            </a:custGeom>
            <a:solidFill>
              <a:srgbClr val="10316B"/>
            </a:solidFill>
            <a:ln cap="sq">
              <a:noFill/>
              <a:prstDash val="solid"/>
              <a:miter/>
            </a:ln>
          </p:spPr>
        </p:sp>
        <p:sp>
          <p:nvSpPr>
            <p:cNvPr id="6" name="TextBox 6"/>
            <p:cNvSpPr txBox="1"/>
            <p:nvPr/>
          </p:nvSpPr>
          <p:spPr>
            <a:xfrm>
              <a:off x="0" y="-57150"/>
              <a:ext cx="1767691" cy="511525"/>
            </a:xfrm>
            <a:prstGeom prst="rect">
              <a:avLst/>
            </a:prstGeom>
          </p:spPr>
          <p:txBody>
            <a:bodyPr lIns="50800" tIns="50800" rIns="50800" bIns="50800" rtlCol="0" anchor="ctr"/>
            <a:lstStyle/>
            <a:p>
              <a:pPr algn="ctr">
                <a:lnSpc>
                  <a:spcPts val="3511"/>
                </a:lnSpc>
              </a:pPr>
              <a:endParaRPr/>
            </a:p>
          </p:txBody>
        </p:sp>
      </p:grpSp>
      <p:grpSp>
        <p:nvGrpSpPr>
          <p:cNvPr id="7" name="Group 7"/>
          <p:cNvGrpSpPr/>
          <p:nvPr/>
        </p:nvGrpSpPr>
        <p:grpSpPr>
          <a:xfrm>
            <a:off x="-2742393" y="5836572"/>
            <a:ext cx="19193706" cy="3818634"/>
            <a:chOff x="0" y="0"/>
            <a:chExt cx="1767691" cy="351686"/>
          </a:xfrm>
        </p:grpSpPr>
        <p:sp>
          <p:nvSpPr>
            <p:cNvPr id="8" name="Freeform 8"/>
            <p:cNvSpPr/>
            <p:nvPr/>
          </p:nvSpPr>
          <p:spPr>
            <a:xfrm>
              <a:off x="0" y="0"/>
              <a:ext cx="1767691" cy="351686"/>
            </a:xfrm>
            <a:custGeom>
              <a:avLst/>
              <a:gdLst/>
              <a:ahLst/>
              <a:cxnLst/>
              <a:rect l="l" t="t" r="r" b="b"/>
              <a:pathLst>
                <a:path w="1767691" h="351686">
                  <a:moveTo>
                    <a:pt x="1564491" y="0"/>
                  </a:moveTo>
                  <a:cubicBezTo>
                    <a:pt x="1676715" y="0"/>
                    <a:pt x="1767691" y="78728"/>
                    <a:pt x="1767691" y="175843"/>
                  </a:cubicBezTo>
                  <a:cubicBezTo>
                    <a:pt x="1767691" y="272959"/>
                    <a:pt x="1676715" y="351686"/>
                    <a:pt x="1564491" y="351686"/>
                  </a:cubicBezTo>
                  <a:lnTo>
                    <a:pt x="203200" y="351686"/>
                  </a:lnTo>
                  <a:cubicBezTo>
                    <a:pt x="90976" y="351686"/>
                    <a:pt x="0" y="272959"/>
                    <a:pt x="0" y="175843"/>
                  </a:cubicBezTo>
                  <a:cubicBezTo>
                    <a:pt x="0" y="78728"/>
                    <a:pt x="90976" y="0"/>
                    <a:pt x="203200" y="0"/>
                  </a:cubicBezTo>
                  <a:close/>
                </a:path>
              </a:pathLst>
            </a:custGeom>
            <a:solidFill>
              <a:srgbClr val="10316B"/>
            </a:solidFill>
            <a:ln cap="sq">
              <a:noFill/>
              <a:prstDash val="solid"/>
              <a:miter/>
            </a:ln>
          </p:spPr>
        </p:sp>
        <p:sp>
          <p:nvSpPr>
            <p:cNvPr id="9" name="TextBox 9"/>
            <p:cNvSpPr txBox="1"/>
            <p:nvPr/>
          </p:nvSpPr>
          <p:spPr>
            <a:xfrm>
              <a:off x="0" y="-57150"/>
              <a:ext cx="1767691" cy="408836"/>
            </a:xfrm>
            <a:prstGeom prst="rect">
              <a:avLst/>
            </a:prstGeom>
          </p:spPr>
          <p:txBody>
            <a:bodyPr lIns="50800" tIns="50800" rIns="50800" bIns="50800" rtlCol="0" anchor="ctr"/>
            <a:lstStyle/>
            <a:p>
              <a:pPr algn="ctr">
                <a:lnSpc>
                  <a:spcPts val="3511"/>
                </a:lnSpc>
              </a:pPr>
              <a:endParaRPr/>
            </a:p>
          </p:txBody>
        </p:sp>
      </p:grpSp>
      <p:sp>
        <p:nvSpPr>
          <p:cNvPr id="10" name="TextBox 10"/>
          <p:cNvSpPr txBox="1"/>
          <p:nvPr/>
        </p:nvSpPr>
        <p:spPr>
          <a:xfrm>
            <a:off x="981001" y="6823392"/>
            <a:ext cx="13633171" cy="2789555"/>
          </a:xfrm>
          <a:prstGeom prst="rect">
            <a:avLst/>
          </a:prstGeom>
        </p:spPr>
        <p:txBody>
          <a:bodyPr lIns="0" tIns="0" rIns="0" bIns="0" rtlCol="0" anchor="t">
            <a:spAutoFit/>
          </a:bodyPr>
          <a:lstStyle/>
          <a:p>
            <a:pPr marL="496571" lvl="1" indent="-248285" algn="r">
              <a:lnSpc>
                <a:spcPts val="3220"/>
              </a:lnSpc>
              <a:buFont typeface="Arial"/>
              <a:buChar char="•"/>
            </a:pPr>
            <a:r>
              <a:rPr lang="en-US" sz="2300" spc="460">
                <a:solidFill>
                  <a:srgbClr val="F2F7FF"/>
                </a:solidFill>
                <a:latin typeface="Inter"/>
                <a:ea typeface="Inter"/>
                <a:cs typeface="Inter"/>
                <a:sym typeface="Inter"/>
              </a:rPr>
              <a:t>Enables greater independence and autonomy for deaf-mute individuals in daily life.</a:t>
            </a:r>
          </a:p>
          <a:p>
            <a:pPr marL="496571" lvl="1" indent="-248285" algn="r">
              <a:lnSpc>
                <a:spcPts val="3220"/>
              </a:lnSpc>
              <a:buFont typeface="Arial"/>
              <a:buChar char="•"/>
            </a:pPr>
            <a:r>
              <a:rPr lang="en-US" sz="2300" spc="460">
                <a:solidFill>
                  <a:srgbClr val="F2F7FF"/>
                </a:solidFill>
                <a:latin typeface="Inter"/>
                <a:ea typeface="Inter"/>
                <a:cs typeface="Inter"/>
                <a:sym typeface="Inter"/>
              </a:rPr>
              <a:t>Unlocks new opportunities in education, employment, and public engagement for the deaf-mute community.</a:t>
            </a:r>
          </a:p>
          <a:p>
            <a:pPr marL="496571" lvl="1" indent="-248285" algn="r">
              <a:lnSpc>
                <a:spcPts val="3220"/>
              </a:lnSpc>
              <a:buFont typeface="Arial"/>
              <a:buChar char="•"/>
            </a:pPr>
            <a:r>
              <a:rPr lang="en-US" sz="2300" spc="460">
                <a:solidFill>
                  <a:srgbClr val="F2F7FF"/>
                </a:solidFill>
                <a:latin typeface="Inter"/>
                <a:ea typeface="Inter"/>
                <a:cs typeface="Inter"/>
                <a:sym typeface="Inter"/>
              </a:rPr>
              <a:t>Helps bridge communication gaps inclusively, fostering social integration and equal participation.</a:t>
            </a:r>
          </a:p>
          <a:p>
            <a:pPr algn="r">
              <a:lnSpc>
                <a:spcPts val="3220"/>
              </a:lnSpc>
            </a:pPr>
            <a:endParaRPr lang="en-US" sz="2300" spc="460">
              <a:solidFill>
                <a:srgbClr val="F2F7FF"/>
              </a:solidFill>
              <a:latin typeface="Inter"/>
              <a:ea typeface="Inter"/>
              <a:cs typeface="Inter"/>
              <a:sym typeface="Inter"/>
            </a:endParaRPr>
          </a:p>
        </p:txBody>
      </p:sp>
      <p:sp>
        <p:nvSpPr>
          <p:cNvPr id="11" name="TextBox 11"/>
          <p:cNvSpPr txBox="1"/>
          <p:nvPr/>
        </p:nvSpPr>
        <p:spPr>
          <a:xfrm>
            <a:off x="981001" y="6048692"/>
            <a:ext cx="13633171" cy="679450"/>
          </a:xfrm>
          <a:prstGeom prst="rect">
            <a:avLst/>
          </a:prstGeom>
        </p:spPr>
        <p:txBody>
          <a:bodyPr lIns="0" tIns="0" rIns="0" bIns="0" rtlCol="0" anchor="t">
            <a:spAutoFit/>
          </a:bodyPr>
          <a:lstStyle/>
          <a:p>
            <a:pPr marL="0" lvl="0" indent="0" algn="r">
              <a:lnSpc>
                <a:spcPts val="5599"/>
              </a:lnSpc>
            </a:pPr>
            <a:r>
              <a:rPr lang="en-US" sz="3999" b="1" spc="399">
                <a:solidFill>
                  <a:srgbClr val="F2F7FF"/>
                </a:solidFill>
                <a:latin typeface="Roboto Bold"/>
                <a:ea typeface="Roboto Bold"/>
                <a:cs typeface="Roboto Bold"/>
                <a:sym typeface="Roboto Bold"/>
              </a:rPr>
              <a:t>SOCIAL IMPACT</a:t>
            </a:r>
          </a:p>
        </p:txBody>
      </p:sp>
      <p:sp>
        <p:nvSpPr>
          <p:cNvPr id="12" name="TextBox 12"/>
          <p:cNvSpPr txBox="1"/>
          <p:nvPr/>
        </p:nvSpPr>
        <p:spPr>
          <a:xfrm>
            <a:off x="3626129" y="1975771"/>
            <a:ext cx="13633171" cy="3589655"/>
          </a:xfrm>
          <a:prstGeom prst="rect">
            <a:avLst/>
          </a:prstGeom>
        </p:spPr>
        <p:txBody>
          <a:bodyPr lIns="0" tIns="0" rIns="0" bIns="0" rtlCol="0" anchor="t">
            <a:spAutoFit/>
          </a:bodyPr>
          <a:lstStyle/>
          <a:p>
            <a:pPr marL="496571" lvl="1" indent="-248285" algn="l">
              <a:lnSpc>
                <a:spcPts val="3220"/>
              </a:lnSpc>
              <a:buFont typeface="Arial"/>
              <a:buChar char="•"/>
            </a:pPr>
            <a:r>
              <a:rPr lang="en-US" sz="2300" spc="460">
                <a:solidFill>
                  <a:srgbClr val="F2F7FF"/>
                </a:solidFill>
                <a:latin typeface="Inter"/>
                <a:ea typeface="Inter"/>
                <a:cs typeface="Inter"/>
                <a:sym typeface="Inter"/>
              </a:rPr>
              <a:t>Integrate Force Sensitive Resistors (FSRs) to enable pressure sensitivity for richer gesture detection.</a:t>
            </a:r>
          </a:p>
          <a:p>
            <a:pPr marL="496571" lvl="1" indent="-248285" algn="l">
              <a:lnSpc>
                <a:spcPts val="3220"/>
              </a:lnSpc>
              <a:buFont typeface="Arial"/>
              <a:buChar char="•"/>
            </a:pPr>
            <a:r>
              <a:rPr lang="en-US" sz="2300" spc="460">
                <a:solidFill>
                  <a:srgbClr val="F2F7FF"/>
                </a:solidFill>
                <a:latin typeface="Inter"/>
                <a:ea typeface="Inter"/>
                <a:cs typeface="Inter"/>
                <a:sym typeface="Inter"/>
              </a:rPr>
              <a:t>Develop a smartwatch-like companion module to allow users to easily select sign language and spoken language preferences.</a:t>
            </a:r>
          </a:p>
          <a:p>
            <a:pPr marL="496571" lvl="1" indent="-248285" algn="l">
              <a:lnSpc>
                <a:spcPts val="3220"/>
              </a:lnSpc>
              <a:buFont typeface="Arial"/>
              <a:buChar char="•"/>
            </a:pPr>
            <a:r>
              <a:rPr lang="en-US" sz="2300" spc="460">
                <a:solidFill>
                  <a:srgbClr val="F2F7FF"/>
                </a:solidFill>
                <a:latin typeface="Inter"/>
                <a:ea typeface="Inter"/>
                <a:cs typeface="Inter"/>
                <a:sym typeface="Inter"/>
              </a:rPr>
              <a:t>Expand the gesture vocabulary and language support to increase communication flexibility.</a:t>
            </a:r>
          </a:p>
          <a:p>
            <a:pPr marL="496571" lvl="1" indent="-248285" algn="l">
              <a:lnSpc>
                <a:spcPts val="3220"/>
              </a:lnSpc>
              <a:buFont typeface="Arial"/>
              <a:buChar char="•"/>
            </a:pPr>
            <a:r>
              <a:rPr lang="en-US" sz="2300" spc="460">
                <a:solidFill>
                  <a:srgbClr val="F2F7FF"/>
                </a:solidFill>
                <a:latin typeface="Inter"/>
                <a:ea typeface="Inter"/>
                <a:cs typeface="Inter"/>
                <a:sym typeface="Inter"/>
              </a:rPr>
              <a:t>Conduct extensive real-world user testing to validate system performance and usability in daily scenarios.</a:t>
            </a:r>
          </a:p>
          <a:p>
            <a:pPr algn="l">
              <a:lnSpc>
                <a:spcPts val="3220"/>
              </a:lnSpc>
            </a:pPr>
            <a:endParaRPr lang="en-US" sz="2300" spc="460">
              <a:solidFill>
                <a:srgbClr val="F2F7FF"/>
              </a:solidFill>
              <a:latin typeface="Inter"/>
              <a:ea typeface="Inter"/>
              <a:cs typeface="Inter"/>
              <a:sym typeface="Inter"/>
            </a:endParaRPr>
          </a:p>
        </p:txBody>
      </p:sp>
      <p:sp>
        <p:nvSpPr>
          <p:cNvPr id="13" name="TextBox 13"/>
          <p:cNvSpPr txBox="1"/>
          <p:nvPr/>
        </p:nvSpPr>
        <p:spPr>
          <a:xfrm>
            <a:off x="3626129" y="1201071"/>
            <a:ext cx="13633171" cy="679450"/>
          </a:xfrm>
          <a:prstGeom prst="rect">
            <a:avLst/>
          </a:prstGeom>
        </p:spPr>
        <p:txBody>
          <a:bodyPr lIns="0" tIns="0" rIns="0" bIns="0" rtlCol="0" anchor="t">
            <a:spAutoFit/>
          </a:bodyPr>
          <a:lstStyle/>
          <a:p>
            <a:pPr marL="0" lvl="0" indent="0" algn="l">
              <a:lnSpc>
                <a:spcPts val="5599"/>
              </a:lnSpc>
            </a:pPr>
            <a:r>
              <a:rPr lang="en-US" sz="3999" b="1" spc="399">
                <a:solidFill>
                  <a:srgbClr val="F2F7FF"/>
                </a:solidFill>
                <a:latin typeface="Roboto Bold"/>
                <a:ea typeface="Roboto Bold"/>
                <a:cs typeface="Roboto Bold"/>
                <a:sym typeface="Roboto Bold"/>
              </a:rPr>
              <a:t>IMPROVEMENT</a:t>
            </a:r>
          </a:p>
        </p:txBody>
      </p:sp>
      <p:grpSp>
        <p:nvGrpSpPr>
          <p:cNvPr id="14" name="Group 14"/>
          <p:cNvGrpSpPr/>
          <p:nvPr/>
        </p:nvGrpSpPr>
        <p:grpSpPr>
          <a:xfrm>
            <a:off x="1084293" y="2040478"/>
            <a:ext cx="1504788" cy="1555304"/>
            <a:chOff x="0" y="0"/>
            <a:chExt cx="813616" cy="840929"/>
          </a:xfrm>
        </p:grpSpPr>
        <p:sp>
          <p:nvSpPr>
            <p:cNvPr id="15" name="Freeform 15"/>
            <p:cNvSpPr/>
            <p:nvPr/>
          </p:nvSpPr>
          <p:spPr>
            <a:xfrm>
              <a:off x="0" y="0"/>
              <a:ext cx="813616" cy="840929"/>
            </a:xfrm>
            <a:custGeom>
              <a:avLst/>
              <a:gdLst/>
              <a:ahLst/>
              <a:cxnLst/>
              <a:rect l="l" t="t" r="r" b="b"/>
              <a:pathLst>
                <a:path w="813616" h="840929">
                  <a:moveTo>
                    <a:pt x="406808" y="0"/>
                  </a:moveTo>
                  <a:cubicBezTo>
                    <a:pt x="182134" y="0"/>
                    <a:pt x="0" y="188248"/>
                    <a:pt x="0" y="420464"/>
                  </a:cubicBezTo>
                  <a:cubicBezTo>
                    <a:pt x="0" y="652680"/>
                    <a:pt x="182134" y="840929"/>
                    <a:pt x="406808" y="840929"/>
                  </a:cubicBezTo>
                  <a:cubicBezTo>
                    <a:pt x="631481" y="840929"/>
                    <a:pt x="813616" y="652680"/>
                    <a:pt x="813616" y="420464"/>
                  </a:cubicBezTo>
                  <a:cubicBezTo>
                    <a:pt x="813616" y="188248"/>
                    <a:pt x="631481" y="0"/>
                    <a:pt x="406808" y="0"/>
                  </a:cubicBezTo>
                  <a:close/>
                </a:path>
              </a:pathLst>
            </a:custGeom>
            <a:solidFill>
              <a:srgbClr val="F2F7FF"/>
            </a:solidFill>
            <a:ln w="95250" cap="sq">
              <a:solidFill>
                <a:srgbClr val="10316B"/>
              </a:solidFill>
              <a:prstDash val="solid"/>
              <a:miter/>
            </a:ln>
          </p:spPr>
        </p:sp>
        <p:sp>
          <p:nvSpPr>
            <p:cNvPr id="16" name="TextBox 16"/>
            <p:cNvSpPr txBox="1"/>
            <p:nvPr/>
          </p:nvSpPr>
          <p:spPr>
            <a:xfrm>
              <a:off x="76276" y="-16413"/>
              <a:ext cx="661063" cy="778505"/>
            </a:xfrm>
            <a:prstGeom prst="rect">
              <a:avLst/>
            </a:prstGeom>
          </p:spPr>
          <p:txBody>
            <a:bodyPr lIns="50800" tIns="50800" rIns="50800" bIns="50800" rtlCol="0" anchor="ctr"/>
            <a:lstStyle/>
            <a:p>
              <a:pPr algn="ctr">
                <a:lnSpc>
                  <a:spcPts val="6999"/>
                </a:lnSpc>
              </a:pPr>
              <a:r>
                <a:rPr lang="en-US" sz="4999" b="1">
                  <a:solidFill>
                    <a:srgbClr val="10316B"/>
                  </a:solidFill>
                  <a:latin typeface="Roboto Bold"/>
                  <a:ea typeface="Roboto Bold"/>
                  <a:cs typeface="Roboto Bold"/>
                  <a:sym typeface="Roboto Bold"/>
                </a:rPr>
                <a:t>02</a:t>
              </a:r>
            </a:p>
          </p:txBody>
        </p:sp>
      </p:grpSp>
      <p:grpSp>
        <p:nvGrpSpPr>
          <p:cNvPr id="17" name="Group 17"/>
          <p:cNvGrpSpPr/>
          <p:nvPr/>
        </p:nvGrpSpPr>
        <p:grpSpPr>
          <a:xfrm>
            <a:off x="15698919" y="6691218"/>
            <a:ext cx="1504788" cy="1555304"/>
            <a:chOff x="0" y="0"/>
            <a:chExt cx="813616" cy="840929"/>
          </a:xfrm>
        </p:grpSpPr>
        <p:sp>
          <p:nvSpPr>
            <p:cNvPr id="18" name="Freeform 18"/>
            <p:cNvSpPr/>
            <p:nvPr/>
          </p:nvSpPr>
          <p:spPr>
            <a:xfrm>
              <a:off x="0" y="0"/>
              <a:ext cx="813616" cy="840929"/>
            </a:xfrm>
            <a:custGeom>
              <a:avLst/>
              <a:gdLst/>
              <a:ahLst/>
              <a:cxnLst/>
              <a:rect l="l" t="t" r="r" b="b"/>
              <a:pathLst>
                <a:path w="813616" h="840929">
                  <a:moveTo>
                    <a:pt x="406808" y="0"/>
                  </a:moveTo>
                  <a:cubicBezTo>
                    <a:pt x="182134" y="0"/>
                    <a:pt x="0" y="188248"/>
                    <a:pt x="0" y="420464"/>
                  </a:cubicBezTo>
                  <a:cubicBezTo>
                    <a:pt x="0" y="652680"/>
                    <a:pt x="182134" y="840929"/>
                    <a:pt x="406808" y="840929"/>
                  </a:cubicBezTo>
                  <a:cubicBezTo>
                    <a:pt x="631481" y="840929"/>
                    <a:pt x="813616" y="652680"/>
                    <a:pt x="813616" y="420464"/>
                  </a:cubicBezTo>
                  <a:cubicBezTo>
                    <a:pt x="813616" y="188248"/>
                    <a:pt x="631481" y="0"/>
                    <a:pt x="406808" y="0"/>
                  </a:cubicBezTo>
                  <a:close/>
                </a:path>
              </a:pathLst>
            </a:custGeom>
            <a:solidFill>
              <a:srgbClr val="F2F7FF"/>
            </a:solidFill>
            <a:ln w="95250" cap="sq">
              <a:solidFill>
                <a:srgbClr val="10316B"/>
              </a:solidFill>
              <a:prstDash val="solid"/>
              <a:miter/>
            </a:ln>
          </p:spPr>
        </p:sp>
        <p:sp>
          <p:nvSpPr>
            <p:cNvPr id="19" name="TextBox 19"/>
            <p:cNvSpPr txBox="1"/>
            <p:nvPr/>
          </p:nvSpPr>
          <p:spPr>
            <a:xfrm>
              <a:off x="76276" y="-16413"/>
              <a:ext cx="661063" cy="778505"/>
            </a:xfrm>
            <a:prstGeom prst="rect">
              <a:avLst/>
            </a:prstGeom>
          </p:spPr>
          <p:txBody>
            <a:bodyPr lIns="50800" tIns="50800" rIns="50800" bIns="50800" rtlCol="0" anchor="ctr"/>
            <a:lstStyle/>
            <a:p>
              <a:pPr algn="ctr">
                <a:lnSpc>
                  <a:spcPts val="6999"/>
                </a:lnSpc>
              </a:pPr>
              <a:r>
                <a:rPr lang="en-US" sz="4999" b="1">
                  <a:solidFill>
                    <a:srgbClr val="10316B"/>
                  </a:solidFill>
                  <a:latin typeface="Roboto Bold"/>
                  <a:ea typeface="Roboto Bold"/>
                  <a:cs typeface="Roboto Bold"/>
                  <a:sym typeface="Roboto Bold"/>
                </a:rPr>
                <a:t>03</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7FF"/>
        </a:solidFill>
        <a:effectLst/>
      </p:bgPr>
    </p:bg>
    <p:spTree>
      <p:nvGrpSpPr>
        <p:cNvPr id="1" name=""/>
        <p:cNvGrpSpPr/>
        <p:nvPr/>
      </p:nvGrpSpPr>
      <p:grpSpPr>
        <a:xfrm>
          <a:off x="0" y="0"/>
          <a:ext cx="0" cy="0"/>
          <a:chOff x="0" y="0"/>
          <a:chExt cx="0" cy="0"/>
        </a:xfrm>
      </p:grpSpPr>
      <p:sp>
        <p:nvSpPr>
          <p:cNvPr id="2" name="Freeform 2"/>
          <p:cNvSpPr/>
          <p:nvPr/>
        </p:nvSpPr>
        <p:spPr>
          <a:xfrm rot="2279039" flipH="1">
            <a:off x="3749550" y="-1448773"/>
            <a:ext cx="18926080" cy="9147606"/>
          </a:xfrm>
          <a:custGeom>
            <a:avLst/>
            <a:gdLst/>
            <a:ahLst/>
            <a:cxnLst/>
            <a:rect l="l" t="t" r="r" b="b"/>
            <a:pathLst>
              <a:path w="18926080" h="9147606">
                <a:moveTo>
                  <a:pt x="18926081" y="0"/>
                </a:moveTo>
                <a:lnTo>
                  <a:pt x="0" y="0"/>
                </a:lnTo>
                <a:lnTo>
                  <a:pt x="0" y="9147605"/>
                </a:lnTo>
                <a:lnTo>
                  <a:pt x="18926081" y="9147605"/>
                </a:lnTo>
                <a:lnTo>
                  <a:pt x="18926081" y="0"/>
                </a:lnTo>
                <a:close/>
              </a:path>
            </a:pathLst>
          </a:custGeom>
          <a:blipFill>
            <a:blip r:embed="rId2">
              <a:alphaModFix amt="47000"/>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24486" y="3610753"/>
            <a:ext cx="11462713" cy="4061176"/>
          </a:xfrm>
          <a:prstGeom prst="rect">
            <a:avLst/>
          </a:prstGeom>
        </p:spPr>
        <p:txBody>
          <a:bodyPr wrap="square" lIns="0" tIns="0" rIns="0" bIns="0" rtlCol="0" anchor="t">
            <a:spAutoFit/>
          </a:bodyPr>
          <a:lstStyle/>
          <a:p>
            <a:pPr algn="l">
              <a:lnSpc>
                <a:spcPts val="2940"/>
              </a:lnSpc>
            </a:pPr>
            <a:r>
              <a:rPr lang="en-US" sz="2100" spc="420" dirty="0" err="1">
                <a:solidFill>
                  <a:srgbClr val="000000"/>
                </a:solidFill>
                <a:latin typeface="Inter"/>
                <a:ea typeface="Inter"/>
                <a:cs typeface="Inter"/>
                <a:sym typeface="Inter"/>
              </a:rPr>
              <a:t>Vanitra</a:t>
            </a:r>
            <a:r>
              <a:rPr lang="en-US" sz="2100" spc="420" dirty="0">
                <a:solidFill>
                  <a:srgbClr val="000000"/>
                </a:solidFill>
                <a:latin typeface="Inter"/>
                <a:ea typeface="Inter"/>
                <a:cs typeface="Inter"/>
                <a:sym typeface="Inter"/>
              </a:rPr>
              <a:t> demonstrates a practical and effective wearable solution for bidirectional communication between deaf-mute individuals and hearing people. By integrating sensor-equipped gloves and a speech-to-haptic wristband, combined with embedded AI on the ESP32-S3, the system enables seamless offline translation of sign language to speech and speech to tactile feedback. Prototype testing shows promising accuracy, responsiveness, and user acceptance. While challenges remain, </a:t>
            </a:r>
            <a:r>
              <a:rPr lang="en-US" sz="2100" spc="420" dirty="0" err="1">
                <a:solidFill>
                  <a:srgbClr val="000000"/>
                </a:solidFill>
                <a:latin typeface="Inter"/>
                <a:ea typeface="Inter"/>
                <a:cs typeface="Inter"/>
                <a:sym typeface="Inter"/>
              </a:rPr>
              <a:t>Vanitra</a:t>
            </a:r>
            <a:r>
              <a:rPr lang="en-US" sz="2100" spc="420" dirty="0">
                <a:solidFill>
                  <a:srgbClr val="000000"/>
                </a:solidFill>
                <a:latin typeface="Inter"/>
                <a:ea typeface="Inter"/>
                <a:cs typeface="Inter"/>
                <a:sym typeface="Inter"/>
              </a:rPr>
              <a:t> represents a significant step toward empowering deaf-mute communities with greater independence and inclusion through innovative technology.</a:t>
            </a:r>
          </a:p>
        </p:txBody>
      </p:sp>
      <p:sp>
        <p:nvSpPr>
          <p:cNvPr id="4" name="TextBox 4"/>
          <p:cNvSpPr txBox="1"/>
          <p:nvPr/>
        </p:nvSpPr>
        <p:spPr>
          <a:xfrm>
            <a:off x="885118" y="2039813"/>
            <a:ext cx="9419573" cy="1306204"/>
          </a:xfrm>
          <a:prstGeom prst="rect">
            <a:avLst/>
          </a:prstGeom>
        </p:spPr>
        <p:txBody>
          <a:bodyPr lIns="0" tIns="0" rIns="0" bIns="0" rtlCol="0" anchor="t">
            <a:spAutoFit/>
          </a:bodyPr>
          <a:lstStyle/>
          <a:p>
            <a:pPr marL="0" lvl="0" indent="0" algn="l">
              <a:lnSpc>
                <a:spcPts val="10010"/>
              </a:lnSpc>
            </a:pPr>
            <a:r>
              <a:rPr lang="en-US" sz="9100" spc="455">
                <a:solidFill>
                  <a:srgbClr val="000000"/>
                </a:solidFill>
                <a:latin typeface="Archivo Black"/>
                <a:ea typeface="Archivo Black"/>
                <a:cs typeface="Archivo Black"/>
                <a:sym typeface="Archivo Black"/>
              </a:rPr>
              <a:t>CONCLUSION</a:t>
            </a:r>
          </a:p>
        </p:txBody>
      </p:sp>
      <p:sp>
        <p:nvSpPr>
          <p:cNvPr id="5" name="TextBox 5"/>
          <p:cNvSpPr txBox="1"/>
          <p:nvPr/>
        </p:nvSpPr>
        <p:spPr>
          <a:xfrm>
            <a:off x="1028700" y="1453073"/>
            <a:ext cx="5405826" cy="348615"/>
          </a:xfrm>
          <a:prstGeom prst="rect">
            <a:avLst/>
          </a:prstGeom>
        </p:spPr>
        <p:txBody>
          <a:bodyPr lIns="0" tIns="0" rIns="0" bIns="0" rtlCol="0" anchor="t">
            <a:spAutoFit/>
          </a:bodyPr>
          <a:lstStyle/>
          <a:p>
            <a:pPr algn="l">
              <a:lnSpc>
                <a:spcPts val="2760"/>
              </a:lnSpc>
              <a:spcBef>
                <a:spcPct val="0"/>
              </a:spcBef>
            </a:pPr>
            <a:r>
              <a:rPr lang="en-US" sz="2400" b="1" spc="480">
                <a:solidFill>
                  <a:srgbClr val="000000"/>
                </a:solidFill>
                <a:latin typeface="Inter Bold"/>
                <a:ea typeface="Inter Bold"/>
                <a:cs typeface="Inter Bold"/>
                <a:sym typeface="Inter Bold"/>
              </a:rPr>
              <a:t>VANITRA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316B"/>
        </a:solidFill>
        <a:effectLst/>
      </p:bgPr>
    </p:bg>
    <p:spTree>
      <p:nvGrpSpPr>
        <p:cNvPr id="1" name=""/>
        <p:cNvGrpSpPr/>
        <p:nvPr/>
      </p:nvGrpSpPr>
      <p:grpSpPr>
        <a:xfrm>
          <a:off x="0" y="0"/>
          <a:ext cx="0" cy="0"/>
          <a:chOff x="0" y="0"/>
          <a:chExt cx="0" cy="0"/>
        </a:xfrm>
      </p:grpSpPr>
      <p:sp>
        <p:nvSpPr>
          <p:cNvPr id="2" name="Freeform 2"/>
          <p:cNvSpPr/>
          <p:nvPr/>
        </p:nvSpPr>
        <p:spPr>
          <a:xfrm>
            <a:off x="0" y="5143500"/>
            <a:ext cx="18288000" cy="8839200"/>
          </a:xfrm>
          <a:custGeom>
            <a:avLst/>
            <a:gdLst/>
            <a:ahLst/>
            <a:cxnLst/>
            <a:rect l="l" t="t" r="r" b="b"/>
            <a:pathLst>
              <a:path w="18288000" h="8839200">
                <a:moveTo>
                  <a:pt x="0" y="0"/>
                </a:moveTo>
                <a:lnTo>
                  <a:pt x="18288000" y="0"/>
                </a:lnTo>
                <a:lnTo>
                  <a:pt x="18288000" y="8839200"/>
                </a:lnTo>
                <a:lnTo>
                  <a:pt x="0" y="88392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1218665">
            <a:off x="10138270" y="-3276751"/>
            <a:ext cx="10274599" cy="4966056"/>
          </a:xfrm>
          <a:custGeom>
            <a:avLst/>
            <a:gdLst/>
            <a:ahLst/>
            <a:cxnLst/>
            <a:rect l="l" t="t" r="r" b="b"/>
            <a:pathLst>
              <a:path w="10274599" h="4966056">
                <a:moveTo>
                  <a:pt x="0" y="0"/>
                </a:moveTo>
                <a:lnTo>
                  <a:pt x="10274599" y="0"/>
                </a:lnTo>
                <a:lnTo>
                  <a:pt x="10274599" y="4966056"/>
                </a:lnTo>
                <a:lnTo>
                  <a:pt x="0" y="49660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15756603" y="7469799"/>
            <a:ext cx="405649" cy="405649"/>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2F7FF"/>
            </a:solidFill>
          </p:spPr>
        </p:sp>
        <p:sp>
          <p:nvSpPr>
            <p:cNvPr id="6" name="TextBox 6"/>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grpSp>
        <p:nvGrpSpPr>
          <p:cNvPr id="7" name="Group 7"/>
          <p:cNvGrpSpPr/>
          <p:nvPr/>
        </p:nvGrpSpPr>
        <p:grpSpPr>
          <a:xfrm>
            <a:off x="16305127" y="7469799"/>
            <a:ext cx="405649" cy="405649"/>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409C"/>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sp>
        <p:nvSpPr>
          <p:cNvPr id="10" name="TextBox 10"/>
          <p:cNvSpPr txBox="1"/>
          <p:nvPr/>
        </p:nvSpPr>
        <p:spPr>
          <a:xfrm>
            <a:off x="7839727" y="2675494"/>
            <a:ext cx="9419573" cy="3400425"/>
          </a:xfrm>
          <a:prstGeom prst="rect">
            <a:avLst/>
          </a:prstGeom>
        </p:spPr>
        <p:txBody>
          <a:bodyPr lIns="0" tIns="0" rIns="0" bIns="0" rtlCol="0" anchor="t">
            <a:spAutoFit/>
          </a:bodyPr>
          <a:lstStyle/>
          <a:p>
            <a:pPr marL="0" lvl="0" indent="0" algn="l">
              <a:lnSpc>
                <a:spcPts val="13200"/>
              </a:lnSpc>
            </a:pPr>
            <a:r>
              <a:rPr lang="en-US" sz="12000" spc="600">
                <a:solidFill>
                  <a:srgbClr val="F2F7FF"/>
                </a:solidFill>
                <a:latin typeface="Archivo Black"/>
                <a:ea typeface="Archivo Black"/>
                <a:cs typeface="Archivo Black"/>
                <a:sym typeface="Archivo Black"/>
              </a:rPr>
              <a:t>THANK YOU</a:t>
            </a:r>
          </a:p>
        </p:txBody>
      </p:sp>
      <p:sp>
        <p:nvSpPr>
          <p:cNvPr id="11" name="TextBox 11"/>
          <p:cNvSpPr txBox="1"/>
          <p:nvPr/>
        </p:nvSpPr>
        <p:spPr>
          <a:xfrm>
            <a:off x="7839727" y="6243724"/>
            <a:ext cx="9419573" cy="679450"/>
          </a:xfrm>
          <a:prstGeom prst="rect">
            <a:avLst/>
          </a:prstGeom>
        </p:spPr>
        <p:txBody>
          <a:bodyPr lIns="0" tIns="0" rIns="0" bIns="0" rtlCol="0" anchor="t">
            <a:spAutoFit/>
          </a:bodyPr>
          <a:lstStyle/>
          <a:p>
            <a:pPr marL="0" lvl="0" indent="0" algn="l">
              <a:lnSpc>
                <a:spcPts val="5599"/>
              </a:lnSpc>
            </a:pPr>
            <a:r>
              <a:rPr lang="en-US" sz="3999" b="1" spc="399">
                <a:solidFill>
                  <a:srgbClr val="F2F7FF"/>
                </a:solidFill>
                <a:latin typeface="Roboto Bold"/>
                <a:ea typeface="Roboto Bold"/>
                <a:cs typeface="Roboto Bold"/>
                <a:sym typeface="Roboto Bold"/>
              </a:rPr>
              <a:t>FOR YOUR ATTENTION</a:t>
            </a:r>
          </a:p>
        </p:txBody>
      </p:sp>
      <p:grpSp>
        <p:nvGrpSpPr>
          <p:cNvPr id="12" name="Group 12"/>
          <p:cNvGrpSpPr/>
          <p:nvPr/>
        </p:nvGrpSpPr>
        <p:grpSpPr>
          <a:xfrm>
            <a:off x="16853651" y="7469799"/>
            <a:ext cx="405649" cy="405649"/>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CE63"/>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3511"/>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907</Words>
  <Application>Microsoft Office PowerPoint</Application>
  <PresentationFormat>Custom</PresentationFormat>
  <Paragraphs>96</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Inter Bold</vt:lpstr>
      <vt:lpstr>Canva Sans Bold</vt:lpstr>
      <vt:lpstr>Archivo Black</vt:lpstr>
      <vt:lpstr>Roboto Bold</vt:lpstr>
      <vt:lpstr>Calibri</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Modern Business Operation Management Company Presentation</dc:title>
  <cp:lastModifiedBy>SE_MME_36_Manas Pednekar</cp:lastModifiedBy>
  <cp:revision>2</cp:revision>
  <dcterms:created xsi:type="dcterms:W3CDTF">2006-08-16T00:00:00Z</dcterms:created>
  <dcterms:modified xsi:type="dcterms:W3CDTF">2025-08-25T05:09:34Z</dcterms:modified>
  <dc:identifier>DAGxAA3QgF8</dc:identifier>
</cp:coreProperties>
</file>